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5682b14e3_1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e5682b14e3_1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e5682b14e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e5682b14e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e5682b14e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e5682b14e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e5682b14e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e5682b14e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e5682b14e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e5682b14e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e5682b14e3_1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e5682b14e3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5682b14e3_1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5682b14e3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e5682b14e3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e5682b14e3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e5682b14e3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e5682b14e3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e5682b14e3_1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e5682b14e3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e5682b14e3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e5682b14e3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e5682b14e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e5682b14e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e5682b14e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e5682b14e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e5682b14e3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e5682b14e3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e5682b14e3_1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e5682b14e3_1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e5682b14e3_1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e5682b14e3_1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e5682b14e3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e5682b14e3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e5682b14e3_1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e5682b14e3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5682b14e3_1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e5682b14e3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e5682b14e3_1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e5682b14e3_1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e5682b14e3_1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e5682b14e3_1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e5682b14e3_1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e5682b14e3_1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e5682b14e3_1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e5682b14e3_1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5682b14e3_1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e5682b14e3_1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3e5682b14e3_1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3e5682b14e3_1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e5682b14e3_1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e5682b14e3_1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e5682b14e3_1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e5682b14e3_1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e5682b14e3_1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e5682b14e3_1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e5682b14e3_1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e5682b14e3_1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e5682b14e3_1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e5682b14e3_1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The Flappy Bird Project</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Overview</a:t>
            </a:r>
            <a:endParaRPr/>
          </a:p>
        </p:txBody>
      </p:sp>
      <p:sp>
        <p:nvSpPr>
          <p:cNvPr id="61" name="Google Shape;61;p14"/>
          <p:cNvSpPr txBox="1"/>
          <p:nvPr>
            <p:ph idx="1" type="body"/>
          </p:nvPr>
        </p:nvSpPr>
        <p:spPr>
          <a:xfrm>
            <a:off x="311700" y="1152475"/>
            <a:ext cx="8520600" cy="3416400"/>
          </a:xfrm>
          <a:prstGeom prst="rect">
            <a:avLst/>
          </a:prstGeom>
          <a:solidFill>
            <a:srgbClr val="FFF2CC"/>
          </a:solidFill>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GB" sz="1800"/>
              <a:t># </a:t>
            </a:r>
            <a:r>
              <a:rPr lang="en-GB" sz="1800"/>
              <a:t>We will explain strengths and limitations at the end</a:t>
            </a:r>
            <a:endParaRPr sz="1800"/>
          </a:p>
          <a:p>
            <a:pPr indent="-342900" lvl="0" marL="457200" rtl="0" algn="l">
              <a:spcBef>
                <a:spcPts val="1200"/>
              </a:spcBef>
              <a:spcAft>
                <a:spcPts val="0"/>
              </a:spcAft>
              <a:buSzPts val="1800"/>
              <a:buChar char="●"/>
            </a:pPr>
            <a:r>
              <a:rPr lang="en-GB" sz="1800"/>
              <a:t>we had divided the code into the following modules:</a:t>
            </a:r>
            <a:endParaRPr sz="1800"/>
          </a:p>
          <a:p>
            <a:pPr indent="-342900" lvl="0" marL="457200" rtl="0" algn="l">
              <a:spcBef>
                <a:spcPts val="0"/>
              </a:spcBef>
              <a:spcAft>
                <a:spcPts val="0"/>
              </a:spcAft>
              <a:buSzPts val="1800"/>
              <a:buChar char="-"/>
            </a:pPr>
            <a:r>
              <a:rPr lang="en-GB" sz="1800"/>
              <a:t>main: contains a high-level runtime life cycle</a:t>
            </a:r>
            <a:endParaRPr sz="1800"/>
          </a:p>
          <a:p>
            <a:pPr indent="-342900" lvl="0" marL="457200" rtl="0" algn="l">
              <a:spcBef>
                <a:spcPts val="0"/>
              </a:spcBef>
              <a:spcAft>
                <a:spcPts val="0"/>
              </a:spcAft>
              <a:buSzPts val="1800"/>
              <a:buChar char="-"/>
            </a:pPr>
            <a:r>
              <a:rPr lang="en-GB" sz="1800"/>
              <a:t>settings: mostly stores game settings</a:t>
            </a:r>
            <a:endParaRPr sz="1800"/>
          </a:p>
          <a:p>
            <a:pPr indent="-342900" lvl="0" marL="457200" rtl="0" algn="l">
              <a:spcBef>
                <a:spcPts val="0"/>
              </a:spcBef>
              <a:spcAft>
                <a:spcPts val="0"/>
              </a:spcAft>
              <a:buSzPts val="1800"/>
              <a:buChar char="-"/>
            </a:pPr>
            <a:r>
              <a:rPr lang="en-GB" sz="1800"/>
              <a:t>runtime_globals: stores shared variables</a:t>
            </a:r>
            <a:endParaRPr sz="1800"/>
          </a:p>
          <a:p>
            <a:pPr indent="-342900" lvl="0" marL="457200" rtl="0" algn="l">
              <a:spcBef>
                <a:spcPts val="0"/>
              </a:spcBef>
              <a:spcAft>
                <a:spcPts val="0"/>
              </a:spcAft>
              <a:buSzPts val="1800"/>
              <a:buChar char="-"/>
            </a:pPr>
            <a:r>
              <a:rPr lang="en-GB" sz="1800"/>
              <a:t>io_init_and_kb: initializes I/O and has keyboard press processing functionalities</a:t>
            </a:r>
            <a:endParaRPr sz="1800"/>
          </a:p>
          <a:p>
            <a:pPr indent="-342900" lvl="0" marL="457200" rtl="0" algn="l">
              <a:spcBef>
                <a:spcPts val="0"/>
              </a:spcBef>
              <a:spcAft>
                <a:spcPts val="0"/>
              </a:spcAft>
              <a:buSzPts val="1800"/>
              <a:buChar char="-"/>
            </a:pPr>
            <a:r>
              <a:rPr lang="en-GB" sz="1800"/>
              <a:t>draw: for drawing frames, it draws birds and pipes, the latter has rasterization hooks for generation and cleanup of pipes</a:t>
            </a:r>
            <a:endParaRPr sz="1800"/>
          </a:p>
          <a:p>
            <a:pPr indent="-342900" lvl="0" marL="457200" rtl="0" algn="l">
              <a:spcBef>
                <a:spcPts val="0"/>
              </a:spcBef>
              <a:spcAft>
                <a:spcPts val="0"/>
              </a:spcAft>
              <a:buSzPts val="1800"/>
              <a:buChar char="-"/>
            </a:pPr>
            <a:r>
              <a:rPr lang="en-GB" sz="1800"/>
              <a:t>update: processes logical events, with update() being called each frame</a:t>
            </a:r>
            <a:endParaRPr sz="1800"/>
          </a:p>
          <a:p>
            <a:pPr indent="-342900" lvl="0" marL="457200" rtl="0" algn="l">
              <a:spcBef>
                <a:spcPts val="0"/>
              </a:spcBef>
              <a:spcAft>
                <a:spcPts val="0"/>
              </a:spcAft>
              <a:buSzPts val="1800"/>
              <a:buChar char="-"/>
            </a:pPr>
            <a:r>
              <a:rPr lang="en-GB" sz="1800"/>
              <a:t>utils: made to contain loosely coupled functions, currently has one function</a:t>
            </a:r>
            <a:endParaRPr baseline="-250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The flappy bird coordinate system</a:t>
            </a:r>
            <a:endParaRPr/>
          </a:p>
        </p:txBody>
      </p:sp>
      <p:sp>
        <p:nvSpPr>
          <p:cNvPr id="67" name="Google Shape;67;p15"/>
          <p:cNvSpPr txBox="1"/>
          <p:nvPr>
            <p:ph idx="1" type="body"/>
          </p:nvPr>
        </p:nvSpPr>
        <p:spPr>
          <a:xfrm>
            <a:off x="311700" y="1152475"/>
            <a:ext cx="8520600" cy="3416400"/>
          </a:xfrm>
          <a:prstGeom prst="rect">
            <a:avLst/>
          </a:prstGeom>
          <a:solidFill>
            <a:srgbClr val="FFF2CC"/>
          </a:solidFill>
        </p:spPr>
        <p:txBody>
          <a:bodyPr anchorCtr="0" anchor="t" bIns="91425" lIns="91425" spcFirstLastPara="1" rIns="91425" wrap="square" tIns="91425">
            <a:normAutofit/>
          </a:bodyPr>
          <a:lstStyle/>
          <a:p>
            <a:pPr indent="0" lvl="0" marL="0" rtl="0" algn="l">
              <a:spcBef>
                <a:spcPts val="0"/>
              </a:spcBef>
              <a:spcAft>
                <a:spcPts val="0"/>
              </a:spcAft>
              <a:buNone/>
            </a:pPr>
            <a:r>
              <a:rPr lang="en-GB" sz="1800"/>
              <a:t>—-------&gt;</a:t>
            </a:r>
            <a:endParaRPr sz="1800"/>
          </a:p>
          <a:p>
            <a:pPr indent="0" lvl="0" marL="0" rtl="0" algn="l">
              <a:spcBef>
                <a:spcPts val="1200"/>
              </a:spcBef>
              <a:spcAft>
                <a:spcPts val="0"/>
              </a:spcAft>
              <a:buNone/>
            </a:pPr>
            <a:r>
              <a:rPr lang="en-GB" sz="1800"/>
              <a:t>|</a:t>
            </a:r>
            <a:endParaRPr sz="1800"/>
          </a:p>
          <a:p>
            <a:pPr indent="0" lvl="0" marL="0" rtl="0" algn="l">
              <a:spcBef>
                <a:spcPts val="1200"/>
              </a:spcBef>
              <a:spcAft>
                <a:spcPts val="0"/>
              </a:spcAft>
              <a:buNone/>
            </a:pPr>
            <a:r>
              <a:rPr lang="en-GB" sz="1800"/>
              <a:t>|</a:t>
            </a:r>
            <a:endParaRPr sz="1800"/>
          </a:p>
          <a:p>
            <a:pPr indent="0" lvl="0" marL="0" rtl="0" algn="l">
              <a:spcBef>
                <a:spcPts val="1200"/>
              </a:spcBef>
              <a:spcAft>
                <a:spcPts val="1200"/>
              </a:spcAft>
              <a:buNone/>
            </a:pPr>
            <a:r>
              <a:rPr lang="en-GB" sz="1800"/>
              <a:t>\/</a:t>
            </a:r>
            <a:br>
              <a:rPr lang="en-GB" sz="1800"/>
            </a:br>
            <a:br>
              <a:rPr lang="en-GB" sz="1800"/>
            </a:br>
            <a:r>
              <a:rPr lang="en-GB" sz="1800"/>
              <a:t>A top-down coordinate system is used, with the position of objects stored as the upper-leftmost character</a:t>
            </a:r>
            <a:endParaRPr sz="1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Key Structures</a:t>
            </a:r>
            <a:endParaRPr/>
          </a:p>
        </p:txBody>
      </p:sp>
      <p:sp>
        <p:nvSpPr>
          <p:cNvPr id="73" name="Google Shape;73;p16"/>
          <p:cNvSpPr txBox="1"/>
          <p:nvPr>
            <p:ph idx="1" type="body"/>
          </p:nvPr>
        </p:nvSpPr>
        <p:spPr>
          <a:xfrm>
            <a:off x="311700" y="1152475"/>
            <a:ext cx="8520600" cy="3416400"/>
          </a:xfrm>
          <a:prstGeom prst="rect">
            <a:avLst/>
          </a:prstGeom>
          <a:solidFill>
            <a:srgbClr val="FFF2CC"/>
          </a:solidFill>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sz="1800"/>
              <a:t>The pipe dictionary:</a:t>
            </a:r>
            <a:endParaRPr sz="1800"/>
          </a:p>
          <a:p>
            <a:pPr indent="-342900" lvl="0" marL="457200" rtl="0" algn="l">
              <a:spcBef>
                <a:spcPts val="0"/>
              </a:spcBef>
              <a:spcAft>
                <a:spcPts val="0"/>
              </a:spcAft>
              <a:buSzPts val="1800"/>
              <a:buChar char="-"/>
            </a:pPr>
            <a:r>
              <a:rPr lang="en-GB" sz="1800"/>
              <a:t>x: the pipe’s x offset</a:t>
            </a:r>
            <a:endParaRPr sz="1800"/>
          </a:p>
          <a:p>
            <a:pPr indent="-342900" lvl="0" marL="457200" rtl="0" algn="l">
              <a:spcBef>
                <a:spcPts val="0"/>
              </a:spcBef>
              <a:spcAft>
                <a:spcPts val="0"/>
              </a:spcAft>
              <a:buSzPts val="1800"/>
              <a:buChar char="-"/>
            </a:pPr>
            <a:r>
              <a:rPr lang="en-GB" sz="1800"/>
              <a:t>y</a:t>
            </a:r>
            <a:r>
              <a:rPr lang="en-GB" sz="1800"/>
              <a:t>: the pipe’s y offset (the y line matching the higher ------ line of the pipe)</a:t>
            </a:r>
            <a:endParaRPr sz="1800"/>
          </a:p>
          <a:p>
            <a:pPr indent="-342900" lvl="0" marL="457200" rtl="0" algn="l">
              <a:spcBef>
                <a:spcPts val="0"/>
              </a:spcBef>
              <a:spcAft>
                <a:spcPts val="0"/>
              </a:spcAft>
              <a:buSzPts val="1800"/>
              <a:buChar char="-"/>
            </a:pPr>
            <a:r>
              <a:rPr lang="en-GB" sz="1800"/>
              <a:t>passed: whether the bird had already moved past the pipe</a:t>
            </a:r>
            <a:endParaRPr sz="1800"/>
          </a:p>
          <a:p>
            <a:pPr indent="0" lvl="0" marL="0" rtl="0" algn="l">
              <a:spcBef>
                <a:spcPts val="1200"/>
              </a:spcBef>
              <a:spcAft>
                <a:spcPts val="0"/>
              </a:spcAft>
              <a:buNone/>
            </a:pPr>
            <a:r>
              <a:t/>
            </a:r>
            <a:endParaRPr sz="1800"/>
          </a:p>
          <a:p>
            <a:pPr indent="-342900" lvl="0" marL="457200" rtl="0" algn="l">
              <a:spcBef>
                <a:spcPts val="1200"/>
              </a:spcBef>
              <a:spcAft>
                <a:spcPts val="0"/>
              </a:spcAft>
              <a:buSzPts val="1800"/>
              <a:buChar char="●"/>
            </a:pPr>
            <a:r>
              <a:rPr lang="en-GB" sz="1800"/>
              <a:t>The canvas: a 2d list where each element is a list of characters representing a row, we used a list of characters as opposed to a string for fast and simple access of pixels (simple because strings are immutable, while lists aren’t)</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Main.py </a:t>
            </a:r>
            <a:r>
              <a:rPr baseline="-25000" lang="en-GB"/>
              <a:t>(by order of execution)</a:t>
            </a:r>
            <a:endParaRPr baseline="-25000"/>
          </a:p>
        </p:txBody>
      </p:sp>
      <p:sp>
        <p:nvSpPr>
          <p:cNvPr id="79" name="Google Shape;79;p17"/>
          <p:cNvSpPr txBox="1"/>
          <p:nvPr>
            <p:ph idx="1" type="body"/>
          </p:nvPr>
        </p:nvSpPr>
        <p:spPr>
          <a:xfrm>
            <a:off x="311700" y="1152475"/>
            <a:ext cx="8520600" cy="3416400"/>
          </a:xfrm>
          <a:prstGeom prst="rect">
            <a:avLst/>
          </a:prstGeom>
          <a:solidFill>
            <a:srgbClr val="FFF2CC"/>
          </a:solidFill>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GB" sz="1800"/>
              <a:t>initialize():</a:t>
            </a:r>
            <a:endParaRPr sz="1800"/>
          </a:p>
          <a:p>
            <a:pPr indent="-325755" lvl="0" marL="457200" rtl="0" algn="l">
              <a:spcBef>
                <a:spcPts val="0"/>
              </a:spcBef>
              <a:spcAft>
                <a:spcPts val="0"/>
              </a:spcAft>
              <a:buSzPct val="100000"/>
              <a:buChar char="-"/>
            </a:pPr>
            <a:r>
              <a:rPr lang="en-GB" sz="1800"/>
              <a:t>Clears the screen (to not have leftover characters from the previous commands)</a:t>
            </a:r>
            <a:endParaRPr sz="1800"/>
          </a:p>
          <a:p>
            <a:pPr indent="-325755" lvl="0" marL="457200" rtl="0" algn="l">
              <a:spcBef>
                <a:spcPts val="0"/>
              </a:spcBef>
              <a:spcAft>
                <a:spcPts val="0"/>
              </a:spcAft>
              <a:buSzPct val="100000"/>
              <a:buChar char="-"/>
            </a:pPr>
            <a:r>
              <a:rPr lang="en-GB" sz="1800"/>
              <a:t>Generates the first pipe(the rest are generated when a pipe moves fully into the canvas (detection is in draw.py))</a:t>
            </a:r>
            <a:endParaRPr sz="1800"/>
          </a:p>
          <a:p>
            <a:pPr indent="-325755" lvl="0" marL="457200" rtl="0" algn="l">
              <a:spcBef>
                <a:spcPts val="0"/>
              </a:spcBef>
              <a:spcAft>
                <a:spcPts val="0"/>
              </a:spcAft>
              <a:buSzPct val="100000"/>
              <a:buChar char="-"/>
            </a:pPr>
            <a:r>
              <a:rPr lang="en-GB" sz="1800"/>
              <a:t>Reads the high score</a:t>
            </a:r>
            <a:endParaRPr sz="1800"/>
          </a:p>
          <a:p>
            <a:pPr indent="0" lvl="0" marL="0" rtl="0" algn="l">
              <a:spcBef>
                <a:spcPts val="1200"/>
              </a:spcBef>
              <a:spcAft>
                <a:spcPts val="0"/>
              </a:spcAft>
              <a:buNone/>
            </a:pPr>
            <a:r>
              <a:t/>
            </a:r>
            <a:endParaRPr sz="1800"/>
          </a:p>
          <a:p>
            <a:pPr indent="-325755" lvl="0" marL="457200" rtl="0" algn="l">
              <a:spcBef>
                <a:spcPts val="1200"/>
              </a:spcBef>
              <a:spcAft>
                <a:spcPts val="0"/>
              </a:spcAft>
              <a:buSzPct val="100000"/>
              <a:buChar char="-"/>
            </a:pPr>
            <a:r>
              <a:rPr lang="en-GB" sz="1800"/>
              <a:t>Note: it does logical initialisation, while io_init_and_kb does os-specific I/O initialisation</a:t>
            </a:r>
            <a:endParaRPr sz="1800"/>
          </a:p>
          <a:p>
            <a:pPr indent="0" lvl="0" marL="0" rtl="0" algn="l">
              <a:spcBef>
                <a:spcPts val="1200"/>
              </a:spcBef>
              <a:spcAft>
                <a:spcPts val="0"/>
              </a:spcAft>
              <a:buNone/>
            </a:pPr>
            <a:r>
              <a:rPr lang="en-GB" sz="1800"/>
              <a:t> </a:t>
            </a:r>
            <a:endParaRPr sz="1800"/>
          </a:p>
          <a:p>
            <a:pPr indent="-325755" lvl="0" marL="457200" rtl="0" algn="l">
              <a:spcBef>
                <a:spcPts val="1200"/>
              </a:spcBef>
              <a:spcAft>
                <a:spcPts val="0"/>
              </a:spcAft>
              <a:buSzPct val="100000"/>
              <a:buChar char="●"/>
            </a:pPr>
            <a:r>
              <a:rPr lang="en-GB" sz="1800"/>
              <a:t>load_high_score():</a:t>
            </a:r>
            <a:endParaRPr sz="1800"/>
          </a:p>
          <a:p>
            <a:pPr indent="-325755" lvl="0" marL="457200" rtl="0" algn="l">
              <a:spcBef>
                <a:spcPts val="0"/>
              </a:spcBef>
              <a:spcAft>
                <a:spcPts val="0"/>
              </a:spcAft>
              <a:buSzPct val="100000"/>
              <a:buChar char="-"/>
            </a:pPr>
            <a:r>
              <a:rPr lang="en-GB" sz="1800"/>
              <a:t>Returns the high score form highscore.txt, if the file does not exist, it returns 0 and writes ‘0’ to the file</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Main.py </a:t>
            </a:r>
            <a:r>
              <a:rPr baseline="-25000" lang="en-GB"/>
              <a:t>(by order of execution)</a:t>
            </a:r>
            <a:endParaRPr b="1"/>
          </a:p>
        </p:txBody>
      </p:sp>
      <p:sp>
        <p:nvSpPr>
          <p:cNvPr id="85" name="Google Shape;85;p18"/>
          <p:cNvSpPr txBox="1"/>
          <p:nvPr>
            <p:ph idx="1" type="body"/>
          </p:nvPr>
        </p:nvSpPr>
        <p:spPr>
          <a:xfrm>
            <a:off x="311700" y="1152475"/>
            <a:ext cx="8520600" cy="3416400"/>
          </a:xfrm>
          <a:prstGeom prst="rect">
            <a:avLst/>
          </a:prstGeom>
          <a:solidFill>
            <a:srgbClr val="FFF2CC"/>
          </a:solidFill>
        </p:spPr>
        <p:txBody>
          <a:bodyPr anchorCtr="0" anchor="t" bIns="91425" lIns="91425" spcFirstLastPara="1" rIns="91425" wrap="square" tIns="91425">
            <a:normAutofit fontScale="85000" lnSpcReduction="10000"/>
          </a:bodyPr>
          <a:lstStyle/>
          <a:p>
            <a:pPr indent="-325755" lvl="0" marL="457200" rtl="0" algn="l">
              <a:spcBef>
                <a:spcPts val="0"/>
              </a:spcBef>
              <a:spcAft>
                <a:spcPts val="0"/>
              </a:spcAft>
              <a:buSzPct val="100000"/>
              <a:buChar char="●"/>
            </a:pPr>
            <a:r>
              <a:rPr lang="en-GB" sz="1800"/>
              <a:t>main_loop():</a:t>
            </a:r>
            <a:endParaRPr sz="1800"/>
          </a:p>
          <a:p>
            <a:pPr indent="-325755" lvl="0" marL="457200" rtl="0" algn="l">
              <a:spcBef>
                <a:spcPts val="0"/>
              </a:spcBef>
              <a:spcAft>
                <a:spcPts val="0"/>
              </a:spcAft>
              <a:buSzPct val="100000"/>
              <a:buChar char="-"/>
            </a:pPr>
            <a:r>
              <a:rPr lang="en-GB" sz="1800"/>
              <a:t>Draws the game scene</a:t>
            </a:r>
            <a:endParaRPr sz="1800"/>
          </a:p>
          <a:p>
            <a:pPr indent="-325755" lvl="0" marL="457200" rtl="0" algn="l">
              <a:spcBef>
                <a:spcPts val="0"/>
              </a:spcBef>
              <a:spcAft>
                <a:spcPts val="0"/>
              </a:spcAft>
              <a:buSzPct val="100000"/>
              <a:buChar char="-"/>
            </a:pPr>
            <a:r>
              <a:rPr lang="en-GB" sz="1800"/>
              <a:t>Updates the game state (by calling update())</a:t>
            </a:r>
            <a:endParaRPr sz="1800"/>
          </a:p>
          <a:p>
            <a:pPr indent="-325755" lvl="0" marL="457200" rtl="0" algn="l">
              <a:spcBef>
                <a:spcPts val="0"/>
              </a:spcBef>
              <a:spcAft>
                <a:spcPts val="0"/>
              </a:spcAft>
              <a:buSzPct val="100000"/>
              <a:buChar char="-"/>
            </a:pPr>
            <a:r>
              <a:rPr lang="en-GB" sz="1800"/>
              <a:t>Processes the last key press since the last frame’s end</a:t>
            </a:r>
            <a:endParaRPr sz="1800"/>
          </a:p>
          <a:p>
            <a:pPr indent="-325755" lvl="0" marL="457200" rtl="0" algn="l">
              <a:spcBef>
                <a:spcPts val="0"/>
              </a:spcBef>
              <a:spcAft>
                <a:spcPts val="0"/>
              </a:spcAft>
              <a:buSzPct val="100000"/>
              <a:buChar char="-"/>
            </a:pPr>
            <a:r>
              <a:rPr lang="en-GB" sz="1800"/>
              <a:t>Sleeps for for 1/framerate many seconds (which roughly means that the loop will run framerate many times per second)</a:t>
            </a:r>
            <a:endParaRPr sz="1800"/>
          </a:p>
          <a:p>
            <a:pPr indent="0" lvl="0" marL="0" rtl="0" algn="l">
              <a:spcBef>
                <a:spcPts val="1200"/>
              </a:spcBef>
              <a:spcAft>
                <a:spcPts val="0"/>
              </a:spcAft>
              <a:buNone/>
            </a:pPr>
            <a:r>
              <a:t/>
            </a:r>
            <a:endParaRPr sz="1800"/>
          </a:p>
          <a:p>
            <a:pPr indent="-325755" lvl="0" marL="457200" rtl="0" algn="l">
              <a:spcBef>
                <a:spcPts val="1200"/>
              </a:spcBef>
              <a:spcAft>
                <a:spcPts val="0"/>
              </a:spcAft>
              <a:buSzPct val="100000"/>
              <a:buChar char="-"/>
            </a:pPr>
            <a:r>
              <a:rPr lang="en-GB" sz="1800"/>
              <a:t>the loop stops if update() returns False, as that indicates the end of the game in our case</a:t>
            </a:r>
            <a:endParaRPr sz="1800"/>
          </a:p>
          <a:p>
            <a:pPr indent="0" lvl="0" marL="0" rtl="0" algn="l">
              <a:spcBef>
                <a:spcPts val="1200"/>
              </a:spcBef>
              <a:spcAft>
                <a:spcPts val="0"/>
              </a:spcAft>
              <a:buNone/>
            </a:pPr>
            <a:r>
              <a:t/>
            </a:r>
            <a:endParaRPr sz="1800"/>
          </a:p>
          <a:p>
            <a:pPr indent="-325755" lvl="0" marL="457200" rtl="0" algn="l">
              <a:spcBef>
                <a:spcPts val="1200"/>
              </a:spcBef>
              <a:spcAft>
                <a:spcPts val="0"/>
              </a:spcAft>
              <a:buSzPct val="100000"/>
              <a:buChar char="●"/>
            </a:pPr>
            <a:r>
              <a:rPr lang="en-GB" sz="1800"/>
              <a:t>show_game_over_screen(): basically waits for the user to press a key before quitting</a:t>
            </a: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settings.py</a:t>
            </a:r>
            <a:endParaRPr b="1"/>
          </a:p>
        </p:txBody>
      </p:sp>
      <p:sp>
        <p:nvSpPr>
          <p:cNvPr id="91" name="Google Shape;91;p19"/>
          <p:cNvSpPr txBox="1"/>
          <p:nvPr>
            <p:ph idx="1" type="body"/>
          </p:nvPr>
        </p:nvSpPr>
        <p:spPr>
          <a:xfrm>
            <a:off x="311700" y="1152475"/>
            <a:ext cx="8520600" cy="3416400"/>
          </a:xfrm>
          <a:prstGeom prst="rect">
            <a:avLst/>
          </a:prstGeom>
          <a:solidFill>
            <a:srgbClr val="FFF2CC"/>
          </a:solidFill>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sz="1800"/>
              <a:t>d</a:t>
            </a:r>
            <a:r>
              <a:rPr lang="en-GB" sz="1800"/>
              <a:t>ebug: this is a flag covering </a:t>
            </a:r>
            <a:r>
              <a:rPr lang="en-GB" sz="1800"/>
              <a:t>whether</a:t>
            </a:r>
            <a:r>
              <a:rPr lang="en-GB" sz="1800"/>
              <a:t> debug mode is on or not, if True gravity would be disabled and the tester can step-through the game based on key presses, it can be used for collision testing and score update testing, if False, the normal game runs</a:t>
            </a:r>
            <a:endParaRPr sz="1800"/>
          </a:p>
          <a:p>
            <a:pPr indent="0" lvl="0" marL="0" rtl="0" algn="l">
              <a:spcBef>
                <a:spcPts val="1200"/>
              </a:spcBef>
              <a:spcAft>
                <a:spcPts val="0"/>
              </a:spcAft>
              <a:buNone/>
            </a:pPr>
            <a:r>
              <a:t/>
            </a:r>
            <a:endParaRPr sz="1800"/>
          </a:p>
          <a:p>
            <a:pPr indent="-342900" lvl="0" marL="457200" rtl="0" algn="l">
              <a:spcBef>
                <a:spcPts val="1200"/>
              </a:spcBef>
              <a:spcAft>
                <a:spcPts val="0"/>
              </a:spcAft>
              <a:buSzPts val="1800"/>
              <a:buChar char="●"/>
            </a:pPr>
            <a:r>
              <a:rPr lang="en-GB" sz="1800"/>
              <a:t>w</a:t>
            </a:r>
            <a:r>
              <a:rPr lang="en-GB" sz="1800"/>
              <a:t>idth: the width of the game in characters (int)</a:t>
            </a:r>
            <a:endParaRPr sz="1800"/>
          </a:p>
          <a:p>
            <a:pPr indent="-342900" lvl="0" marL="457200" rtl="0" algn="l">
              <a:spcBef>
                <a:spcPts val="0"/>
              </a:spcBef>
              <a:spcAft>
                <a:spcPts val="0"/>
              </a:spcAft>
              <a:buSzPts val="1800"/>
              <a:buChar char="●"/>
            </a:pPr>
            <a:r>
              <a:rPr lang="en-GB" sz="1800"/>
              <a:t>h</a:t>
            </a:r>
            <a:r>
              <a:rPr lang="en-GB" sz="1800"/>
              <a:t>eight: the height of the game in characters, it was set in a way that maintains a 16:9 ratio based on width (there is a </a:t>
            </a:r>
            <a:r>
              <a:rPr lang="en-GB" sz="1800"/>
              <a:t>division</a:t>
            </a:r>
            <a:r>
              <a:rPr lang="en-GB" sz="1800"/>
              <a:t> over 2 because in most terminals the height of a line is the same as the width of two characters) (int)</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settings.py</a:t>
            </a:r>
            <a:endParaRPr b="1"/>
          </a:p>
        </p:txBody>
      </p:sp>
      <p:sp>
        <p:nvSpPr>
          <p:cNvPr id="97" name="Google Shape;97;p20"/>
          <p:cNvSpPr txBox="1"/>
          <p:nvPr>
            <p:ph idx="1" type="body"/>
          </p:nvPr>
        </p:nvSpPr>
        <p:spPr>
          <a:xfrm>
            <a:off x="311700" y="1152475"/>
            <a:ext cx="8520600" cy="3416400"/>
          </a:xfrm>
          <a:prstGeom prst="rect">
            <a:avLst/>
          </a:prstGeom>
          <a:solidFill>
            <a:srgbClr val="FFF2CC"/>
          </a:solidFill>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GB" sz="1800"/>
              <a:t>f</a:t>
            </a:r>
            <a:r>
              <a:rPr lang="en-GB" sz="1800"/>
              <a:t>rame_rate: the maximum amount of times the main loop could run per second, typically the </a:t>
            </a:r>
            <a:r>
              <a:rPr lang="en-GB" sz="1800"/>
              <a:t>actual </a:t>
            </a:r>
            <a:r>
              <a:rPr lang="en-GB" sz="1800"/>
              <a:t>value should be close</a:t>
            </a:r>
            <a:endParaRPr sz="1800"/>
          </a:p>
          <a:p>
            <a:pPr indent="0" lvl="0" marL="0" rtl="0" algn="l">
              <a:spcBef>
                <a:spcPts val="1200"/>
              </a:spcBef>
              <a:spcAft>
                <a:spcPts val="0"/>
              </a:spcAft>
              <a:buNone/>
            </a:pPr>
            <a:r>
              <a:t/>
            </a:r>
            <a:endParaRPr sz="1800"/>
          </a:p>
          <a:p>
            <a:pPr indent="-325755" lvl="0" marL="457200" rtl="0" algn="l">
              <a:spcBef>
                <a:spcPts val="1200"/>
              </a:spcBef>
              <a:spcAft>
                <a:spcPts val="0"/>
              </a:spcAft>
              <a:buSzPct val="100000"/>
              <a:buChar char="●"/>
            </a:pPr>
            <a:r>
              <a:rPr lang="en-GB" sz="1800"/>
              <a:t>s</a:t>
            </a:r>
            <a:r>
              <a:rPr lang="en-GB" sz="1800"/>
              <a:t>croll_speed: the speed of the pipes (the pipes move backward while the bird is stationary) (int)</a:t>
            </a:r>
            <a:endParaRPr sz="1800"/>
          </a:p>
          <a:p>
            <a:pPr indent="0" lvl="0" marL="0" rtl="0" algn="l">
              <a:spcBef>
                <a:spcPts val="1200"/>
              </a:spcBef>
              <a:spcAft>
                <a:spcPts val="0"/>
              </a:spcAft>
              <a:buNone/>
            </a:pPr>
            <a:r>
              <a:t/>
            </a:r>
            <a:endParaRPr sz="1800"/>
          </a:p>
          <a:p>
            <a:pPr indent="-325755" lvl="0" marL="457200" rtl="0" algn="l">
              <a:spcBef>
                <a:spcPts val="1200"/>
              </a:spcBef>
              <a:spcAft>
                <a:spcPts val="0"/>
              </a:spcAft>
              <a:buSzPct val="100000"/>
              <a:buChar char="●"/>
            </a:pPr>
            <a:r>
              <a:rPr lang="en-GB" sz="1800"/>
              <a:t>b</a:t>
            </a:r>
            <a:r>
              <a:rPr lang="en-GB" sz="1800"/>
              <a:t>ird_x: bird’s x </a:t>
            </a:r>
            <a:r>
              <a:rPr lang="en-GB" sz="1800"/>
              <a:t>position (int)</a:t>
            </a:r>
            <a:endParaRPr sz="1800"/>
          </a:p>
          <a:p>
            <a:pPr indent="-325755" lvl="0" marL="457200" rtl="0" algn="l">
              <a:spcBef>
                <a:spcPts val="0"/>
              </a:spcBef>
              <a:spcAft>
                <a:spcPts val="0"/>
              </a:spcAft>
              <a:buSzPct val="100000"/>
              <a:buChar char="●"/>
            </a:pPr>
            <a:r>
              <a:rPr lang="en-GB" sz="1800"/>
              <a:t>bird_acceleration: gravity (float)</a:t>
            </a:r>
            <a:endParaRPr sz="1800"/>
          </a:p>
          <a:p>
            <a:pPr indent="-325755" lvl="0" marL="457200" rtl="0" algn="l">
              <a:spcBef>
                <a:spcPts val="0"/>
              </a:spcBef>
              <a:spcAft>
                <a:spcPts val="0"/>
              </a:spcAft>
              <a:buSzPct val="100000"/>
              <a:buChar char="●"/>
            </a:pPr>
            <a:r>
              <a:rPr lang="en-GB" sz="1800"/>
              <a:t>bird_jump_velocity: the velocity the bird gets if it jumps (float)</a:t>
            </a:r>
            <a:endParaRPr sz="1800"/>
          </a:p>
          <a:p>
            <a:pPr indent="-325755" lvl="0" marL="457200" rtl="0" algn="l">
              <a:spcBef>
                <a:spcPts val="0"/>
              </a:spcBef>
              <a:spcAft>
                <a:spcPts val="0"/>
              </a:spcAft>
              <a:buSzPct val="100000"/>
              <a:buChar char="●"/>
            </a:pPr>
            <a:r>
              <a:rPr lang="en-GB" sz="1800"/>
              <a:t>bird_image: the characters representing the bird, it mimics the canvas structure, note that it’s not as flexible as the code implies, collision has the bird’s dimensions hard-coded</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settings.py</a:t>
            </a:r>
            <a:endParaRPr b="1"/>
          </a:p>
        </p:txBody>
      </p:sp>
      <p:sp>
        <p:nvSpPr>
          <p:cNvPr id="103" name="Google Shape;103;p21"/>
          <p:cNvSpPr txBox="1"/>
          <p:nvPr>
            <p:ph idx="1" type="body"/>
          </p:nvPr>
        </p:nvSpPr>
        <p:spPr>
          <a:xfrm>
            <a:off x="311700" y="1152475"/>
            <a:ext cx="8520600" cy="3416400"/>
          </a:xfrm>
          <a:prstGeom prst="rect">
            <a:avLst/>
          </a:prstGeom>
          <a:solidFill>
            <a:srgbClr val="FFF2CC"/>
          </a:solidFill>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GB" sz="1800"/>
              <a:t>m</a:t>
            </a:r>
            <a:r>
              <a:rPr lang="en-GB" sz="1800"/>
              <a:t>in_pipe_distance_slack_factor: effectively sets the ratio of the minimum estimated viable pipe distance, and the actual </a:t>
            </a:r>
            <a:r>
              <a:rPr lang="en-GB" sz="1800"/>
              <a:t>minimum</a:t>
            </a:r>
            <a:r>
              <a:rPr lang="en-GB" sz="1800"/>
              <a:t> pipe distance used (float)</a:t>
            </a:r>
            <a:endParaRPr sz="1800"/>
          </a:p>
          <a:p>
            <a:pPr indent="-325755" lvl="0" marL="457200" rtl="0" algn="l">
              <a:spcBef>
                <a:spcPts val="0"/>
              </a:spcBef>
              <a:spcAft>
                <a:spcPts val="0"/>
              </a:spcAft>
              <a:buSzPct val="100000"/>
              <a:buChar char="●"/>
            </a:pPr>
            <a:r>
              <a:rPr lang="en-GB" sz="1800"/>
              <a:t>m</a:t>
            </a:r>
            <a:r>
              <a:rPr lang="en-GB" sz="1800"/>
              <a:t>ax_to_min_pipe_distance_factor: the ratio of the minimum pipe distance and the maximum pipe distance, this is not absolute; it is clamped due to limitations in pipe events (float)</a:t>
            </a:r>
            <a:endParaRPr sz="1800"/>
          </a:p>
          <a:p>
            <a:pPr indent="-325755" lvl="0" marL="457200" rtl="0" algn="l">
              <a:spcBef>
                <a:spcPts val="0"/>
              </a:spcBef>
              <a:spcAft>
                <a:spcPts val="0"/>
              </a:spcAft>
              <a:buSzPct val="100000"/>
              <a:buChar char="●"/>
            </a:pPr>
            <a:r>
              <a:rPr lang="en-GB" sz="1800"/>
              <a:t>p</a:t>
            </a:r>
            <a:r>
              <a:rPr lang="en-GB" sz="1800"/>
              <a:t>ipe_width: the width of the pipe (int)</a:t>
            </a:r>
            <a:endParaRPr sz="1800"/>
          </a:p>
          <a:p>
            <a:pPr indent="-325755" lvl="0" marL="457200" rtl="0" algn="l">
              <a:spcBef>
                <a:spcPts val="0"/>
              </a:spcBef>
              <a:spcAft>
                <a:spcPts val="0"/>
              </a:spcAft>
              <a:buSzPct val="100000"/>
              <a:buChar char="●"/>
            </a:pPr>
            <a:r>
              <a:rPr lang="en-GB" sz="1800"/>
              <a:t>g</a:t>
            </a:r>
            <a:r>
              <a:rPr lang="en-GB" sz="1800"/>
              <a:t>ap_height: the height of the gap + 2 (as it includes the </a:t>
            </a:r>
            <a:r>
              <a:rPr lang="en-GB" sz="1800"/>
              <a:t>------ lines) (int)</a:t>
            </a:r>
            <a:endParaRPr sz="1800"/>
          </a:p>
          <a:p>
            <a:pPr indent="0" lvl="0" marL="0" rtl="0" algn="l">
              <a:spcBef>
                <a:spcPts val="1200"/>
              </a:spcBef>
              <a:spcAft>
                <a:spcPts val="0"/>
              </a:spcAft>
              <a:buNone/>
            </a:pPr>
            <a:r>
              <a:t/>
            </a:r>
            <a:endParaRPr sz="1800"/>
          </a:p>
          <a:p>
            <a:pPr indent="-325755" lvl="0" marL="457200" rtl="0" algn="l">
              <a:spcBef>
                <a:spcPts val="1200"/>
              </a:spcBef>
              <a:spcAft>
                <a:spcPts val="0"/>
              </a:spcAft>
              <a:buSzPct val="100000"/>
              <a:buChar char="●"/>
            </a:pPr>
            <a:r>
              <a:rPr baseline="30000" lang="en-GB" sz="1800"/>
              <a:t>A hook in programming often means a function that could be called at an event</a:t>
            </a:r>
            <a:endParaRPr baseline="30000" sz="1800"/>
          </a:p>
          <a:p>
            <a:pPr indent="-325755" lvl="0" marL="457200" rtl="0" algn="l">
              <a:spcBef>
                <a:spcPts val="0"/>
              </a:spcBef>
              <a:spcAft>
                <a:spcPts val="0"/>
              </a:spcAft>
              <a:buSzPct val="100000"/>
              <a:buChar char="●"/>
            </a:pPr>
            <a:r>
              <a:rPr lang="en-GB" sz="1800"/>
              <a:t>shift_bird_y(sh): used for hooks in debug_key_actions</a:t>
            </a:r>
            <a:endParaRPr sz="1800"/>
          </a:p>
          <a:p>
            <a:pPr indent="-325755" lvl="0" marL="457200" rtl="0" algn="l">
              <a:spcBef>
                <a:spcPts val="0"/>
              </a:spcBef>
              <a:spcAft>
                <a:spcPts val="0"/>
              </a:spcAft>
              <a:buSzPct val="100000"/>
              <a:buChar char="●"/>
            </a:pPr>
            <a:r>
              <a:rPr lang="en-GB" sz="1800"/>
              <a:t>debug_key_actions: a dictionary of the hooks set in debug mode, where the key of the dictionary is the key press as a character, w moves the bird up, s moves the bird down, d moves the pipes backwards (as if the bird moves forwards)</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2"/>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settings.py</a:t>
            </a:r>
            <a:endParaRPr b="1"/>
          </a:p>
        </p:txBody>
      </p:sp>
      <p:sp>
        <p:nvSpPr>
          <p:cNvPr id="109" name="Google Shape;109;p22"/>
          <p:cNvSpPr txBox="1"/>
          <p:nvPr>
            <p:ph idx="1" type="body"/>
          </p:nvPr>
        </p:nvSpPr>
        <p:spPr>
          <a:xfrm>
            <a:off x="311700" y="1152475"/>
            <a:ext cx="8520600" cy="3416400"/>
          </a:xfrm>
          <a:prstGeom prst="rect">
            <a:avLst/>
          </a:prstGeom>
          <a:solidFill>
            <a:srgbClr val="FFF2CC"/>
          </a:solidFill>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sz="1800"/>
              <a:t>s</a:t>
            </a:r>
            <a:r>
              <a:rPr lang="en-GB" sz="1800"/>
              <a:t>et_bird_vel(v): used for normal_key_actions</a:t>
            </a:r>
            <a:endParaRPr sz="1800"/>
          </a:p>
          <a:p>
            <a:pPr indent="-342900" lvl="0" marL="457200" rtl="0" algn="l">
              <a:spcBef>
                <a:spcPts val="0"/>
              </a:spcBef>
              <a:spcAft>
                <a:spcPts val="0"/>
              </a:spcAft>
              <a:buSzPts val="1800"/>
              <a:buChar char="●"/>
            </a:pPr>
            <a:r>
              <a:rPr lang="en-GB" sz="1800"/>
              <a:t>normal</a:t>
            </a:r>
            <a:r>
              <a:rPr lang="en-GB" sz="1800"/>
              <a:t>_key_actions: a dictionary of the hooks set in normal mode(debug = False mode) where the key of the dictionary is the key press as a character, space sets the bird’s velocity to the bird_jump_velocity setting, resetting the acceleration build-up in the process</a:t>
            </a:r>
            <a:endParaRPr sz="1800"/>
          </a:p>
          <a:p>
            <a:pPr indent="0" lvl="0" marL="0" rtl="0" algn="l">
              <a:spcBef>
                <a:spcPts val="1200"/>
              </a:spcBef>
              <a:spcAft>
                <a:spcPts val="0"/>
              </a:spcAft>
              <a:buNone/>
            </a:pPr>
            <a:r>
              <a:t/>
            </a:r>
            <a:endParaRPr sz="1800"/>
          </a:p>
          <a:p>
            <a:pPr indent="-342900" lvl="0" marL="457200" rtl="0" algn="l">
              <a:spcBef>
                <a:spcPts val="1200"/>
              </a:spcBef>
              <a:spcAft>
                <a:spcPts val="0"/>
              </a:spcAft>
              <a:buSzPts val="1800"/>
              <a:buChar char="●"/>
            </a:pPr>
            <a:r>
              <a:rPr lang="en-GB" sz="1800"/>
              <a:t>key_actions: holds a pointer to the active key hooks dictionary (selected based on the debug flag)</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runtime_globals.py</a:t>
            </a:r>
            <a:endParaRPr b="1"/>
          </a:p>
        </p:txBody>
      </p:sp>
      <p:sp>
        <p:nvSpPr>
          <p:cNvPr id="115" name="Google Shape;115;p23"/>
          <p:cNvSpPr txBox="1"/>
          <p:nvPr>
            <p:ph idx="1" type="body"/>
          </p:nvPr>
        </p:nvSpPr>
        <p:spPr>
          <a:xfrm>
            <a:off x="311700" y="1152475"/>
            <a:ext cx="8520600" cy="3416400"/>
          </a:xfrm>
          <a:prstGeom prst="rect">
            <a:avLst/>
          </a:prstGeom>
          <a:solidFill>
            <a:srgbClr val="FFF2CC"/>
          </a:solidFill>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sz="1800"/>
              <a:t>s</a:t>
            </a:r>
            <a:r>
              <a:rPr lang="en-GB" sz="1800"/>
              <a:t>core: current score</a:t>
            </a:r>
            <a:endParaRPr sz="1800"/>
          </a:p>
          <a:p>
            <a:pPr indent="-342900" lvl="0" marL="457200" rtl="0" algn="l">
              <a:spcBef>
                <a:spcPts val="0"/>
              </a:spcBef>
              <a:spcAft>
                <a:spcPts val="0"/>
              </a:spcAft>
              <a:buSzPts val="1800"/>
              <a:buChar char="●"/>
            </a:pPr>
            <a:r>
              <a:rPr lang="en-GB" sz="1800"/>
              <a:t>h</a:t>
            </a:r>
            <a:r>
              <a:rPr lang="en-GB" sz="1800"/>
              <a:t>igh_score: current high score updated as soon as the high score is broken</a:t>
            </a:r>
            <a:endParaRPr sz="1800"/>
          </a:p>
          <a:p>
            <a:pPr indent="0" lvl="0" marL="0" rtl="0" algn="l">
              <a:spcBef>
                <a:spcPts val="1200"/>
              </a:spcBef>
              <a:spcAft>
                <a:spcPts val="0"/>
              </a:spcAft>
              <a:buNone/>
            </a:pPr>
            <a:r>
              <a:t/>
            </a:r>
            <a:endParaRPr sz="1800"/>
          </a:p>
          <a:p>
            <a:pPr indent="-342900" lvl="0" marL="457200" rtl="0" algn="l">
              <a:spcBef>
                <a:spcPts val="1200"/>
              </a:spcBef>
              <a:spcAft>
                <a:spcPts val="0"/>
              </a:spcAft>
              <a:buSzPts val="1800"/>
              <a:buChar char="●"/>
            </a:pPr>
            <a:r>
              <a:rPr lang="en-GB" sz="1800"/>
              <a:t>p</a:t>
            </a:r>
            <a:r>
              <a:rPr lang="en-GB" sz="1800"/>
              <a:t>ipes: a list of active pipe instances (each pipe is as described in the key structures section)</a:t>
            </a:r>
            <a:endParaRPr sz="1800"/>
          </a:p>
          <a:p>
            <a:pPr indent="0" lvl="0" marL="0" rtl="0" algn="l">
              <a:spcBef>
                <a:spcPts val="1200"/>
              </a:spcBef>
              <a:spcAft>
                <a:spcPts val="0"/>
              </a:spcAft>
              <a:buNone/>
            </a:pPr>
            <a:r>
              <a:t/>
            </a:r>
            <a:endParaRPr sz="1800"/>
          </a:p>
          <a:p>
            <a:pPr indent="-342900" lvl="0" marL="457200" rtl="0" algn="l">
              <a:spcBef>
                <a:spcPts val="1200"/>
              </a:spcBef>
              <a:spcAft>
                <a:spcPts val="0"/>
              </a:spcAft>
              <a:buSzPts val="1800"/>
              <a:buChar char="●"/>
            </a:pPr>
            <a:r>
              <a:rPr lang="en-GB" sz="1800"/>
              <a:t>b</a:t>
            </a:r>
            <a:r>
              <a:rPr lang="en-GB" sz="1800"/>
              <a:t>ird_y: the current line the bird is at in the canvas</a:t>
            </a:r>
            <a:endParaRPr sz="1800"/>
          </a:p>
          <a:p>
            <a:pPr indent="-342900" lvl="0" marL="457200" rtl="0" algn="l">
              <a:spcBef>
                <a:spcPts val="0"/>
              </a:spcBef>
              <a:spcAft>
                <a:spcPts val="0"/>
              </a:spcAft>
              <a:buSzPts val="1800"/>
              <a:buChar char="●"/>
            </a:pPr>
            <a:r>
              <a:rPr lang="en-GB" sz="1800"/>
              <a:t>b</a:t>
            </a:r>
            <a:r>
              <a:rPr lang="en-GB" sz="1800"/>
              <a:t>ird_velocity: the current velocity of the bird</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io_init_and_kb.py</a:t>
            </a:r>
            <a:endParaRPr b="1"/>
          </a:p>
        </p:txBody>
      </p:sp>
      <p:sp>
        <p:nvSpPr>
          <p:cNvPr id="121" name="Google Shape;121;p24"/>
          <p:cNvSpPr txBox="1"/>
          <p:nvPr>
            <p:ph idx="1" type="body"/>
          </p:nvPr>
        </p:nvSpPr>
        <p:spPr>
          <a:xfrm>
            <a:off x="311700" y="1152475"/>
            <a:ext cx="8520600" cy="3416400"/>
          </a:xfrm>
          <a:prstGeom prst="rect">
            <a:avLst/>
          </a:prstGeom>
          <a:solidFill>
            <a:srgbClr val="FFF2CC"/>
          </a:solidFill>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GB" sz="1800"/>
              <a:t>Note: we are not OS API experts, nor python experts, and as such, we had used considerable help to write this module</a:t>
            </a:r>
            <a:endParaRPr sz="1800"/>
          </a:p>
          <a:p>
            <a:pPr indent="0" lvl="0" marL="0" rtl="0" algn="l">
              <a:spcBef>
                <a:spcPts val="1200"/>
              </a:spcBef>
              <a:spcAft>
                <a:spcPts val="0"/>
              </a:spcAft>
              <a:buNone/>
            </a:pPr>
            <a:r>
              <a:t/>
            </a:r>
            <a:endParaRPr sz="1800"/>
          </a:p>
          <a:p>
            <a:pPr indent="-325755" lvl="0" marL="457200" rtl="0" algn="l">
              <a:spcBef>
                <a:spcPts val="1200"/>
              </a:spcBef>
              <a:spcAft>
                <a:spcPts val="0"/>
              </a:spcAft>
              <a:buSzPct val="100000"/>
              <a:buChar char="●"/>
            </a:pPr>
            <a:r>
              <a:rPr lang="en-GB" sz="1800"/>
              <a:t>As soon as the module loads it tries to import the msvcrt module, a Windows™-only module, if we are in *nix, the import will throw an exception, skipping the windows only code, otherwise *nix specific code(written in the expect block) will run</a:t>
            </a:r>
            <a:endParaRPr sz="1800"/>
          </a:p>
          <a:p>
            <a:pPr indent="-325755" lvl="0" marL="457200" rtl="0" algn="l">
              <a:spcBef>
                <a:spcPts val="0"/>
              </a:spcBef>
              <a:spcAft>
                <a:spcPts val="0"/>
              </a:spcAft>
              <a:buSzPct val="100000"/>
              <a:buChar char="-"/>
            </a:pPr>
            <a:r>
              <a:rPr baseline="-25000" lang="en-GB" sz="1800"/>
              <a:t>Note: </a:t>
            </a:r>
            <a:r>
              <a:rPr baseline="-25000" lang="en-GB" sz="1800"/>
              <a:t>*nix basically means unix-likes, which includes linux, mac os and the bsd’s, though we had only tested code on linux</a:t>
            </a:r>
            <a:endParaRPr baseline="-25000" sz="1800"/>
          </a:p>
          <a:p>
            <a:pPr indent="0" lvl="0" marL="0" rtl="0" algn="l">
              <a:spcBef>
                <a:spcPts val="1200"/>
              </a:spcBef>
              <a:spcAft>
                <a:spcPts val="0"/>
              </a:spcAft>
              <a:buNone/>
            </a:pPr>
            <a:r>
              <a:t/>
            </a:r>
            <a:endParaRPr baseline="-25000" sz="1800"/>
          </a:p>
          <a:p>
            <a:pPr indent="-325755" lvl="0" marL="457200" rtl="0" algn="l">
              <a:spcBef>
                <a:spcPts val="1200"/>
              </a:spcBef>
              <a:spcAft>
                <a:spcPts val="0"/>
              </a:spcAft>
              <a:buSzPct val="100000"/>
              <a:buAutoNum type="arabicPeriod"/>
            </a:pPr>
            <a:r>
              <a:rPr lang="en-GB" sz="1800"/>
              <a:t>Windows™ stub: we ‘or’ the current console mode for stdout state with 100b, which enables virtual terminal processing, this should allow us to use terminal-controlling ascii escape sequences if we are not allowed already</a:t>
            </a: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io_init_and_kb.py</a:t>
            </a:r>
            <a:endParaRPr b="1"/>
          </a:p>
        </p:txBody>
      </p:sp>
      <p:sp>
        <p:nvSpPr>
          <p:cNvPr id="127" name="Google Shape;127;p25"/>
          <p:cNvSpPr txBox="1"/>
          <p:nvPr>
            <p:ph idx="1" type="body"/>
          </p:nvPr>
        </p:nvSpPr>
        <p:spPr>
          <a:xfrm>
            <a:off x="311700" y="1152475"/>
            <a:ext cx="8520600" cy="3416400"/>
          </a:xfrm>
          <a:prstGeom prst="rect">
            <a:avLst/>
          </a:prstGeom>
          <a:solidFill>
            <a:srgbClr val="FFF2CC"/>
          </a:solidFill>
        </p:spPr>
        <p:txBody>
          <a:bodyPr anchorCtr="0" anchor="t" bIns="91425" lIns="91425" spcFirstLastPara="1" rIns="91425" wrap="square" tIns="91425">
            <a:normAutofit/>
          </a:bodyPr>
          <a:lstStyle/>
          <a:p>
            <a:pPr indent="0" lvl="0" marL="0" rtl="0" algn="l">
              <a:spcBef>
                <a:spcPts val="0"/>
              </a:spcBef>
              <a:spcAft>
                <a:spcPts val="0"/>
              </a:spcAft>
              <a:buNone/>
            </a:pPr>
            <a:r>
              <a:rPr lang="en-GB" sz="1800"/>
              <a:t>2. *</a:t>
            </a:r>
            <a:r>
              <a:rPr lang="en-GB" sz="1800"/>
              <a:t>nix stub:</a:t>
            </a:r>
            <a:endParaRPr sz="1800"/>
          </a:p>
          <a:p>
            <a:pPr indent="-342900" lvl="0" marL="457200" rtl="0" algn="l">
              <a:spcBef>
                <a:spcPts val="1200"/>
              </a:spcBef>
              <a:spcAft>
                <a:spcPts val="0"/>
              </a:spcAft>
              <a:buSzPts val="1800"/>
              <a:buChar char="-"/>
            </a:pPr>
            <a:r>
              <a:rPr lang="en-GB" sz="1800"/>
              <a:t>We set an is_unix flag to True, this is useful for other functions</a:t>
            </a:r>
            <a:endParaRPr sz="1800"/>
          </a:p>
          <a:p>
            <a:pPr indent="-342900" lvl="0" marL="457200" rtl="0" algn="l">
              <a:spcBef>
                <a:spcPts val="0"/>
              </a:spcBef>
              <a:spcAft>
                <a:spcPts val="0"/>
              </a:spcAft>
              <a:buSzPts val="1800"/>
              <a:buChar char="-"/>
            </a:pPr>
            <a:r>
              <a:rPr lang="en-GB" sz="1800"/>
              <a:t>It sets the standard input to be non-blocking this makes reads on stdin return instantly (even if there is no input)</a:t>
            </a:r>
            <a:endParaRPr sz="1800"/>
          </a:p>
          <a:p>
            <a:pPr indent="-342900" lvl="0" marL="457200" rtl="0" algn="l">
              <a:spcBef>
                <a:spcPts val="0"/>
              </a:spcBef>
              <a:spcAft>
                <a:spcPts val="0"/>
              </a:spcAft>
              <a:buSzPts val="1800"/>
              <a:buChar char="-"/>
            </a:pPr>
            <a:r>
              <a:rPr lang="en-GB" sz="1800"/>
              <a:t>We store terminal state before setting standard input to use cbreak mode, cbreak mode allows read calls s to return characters as soon as a character is inserted, as opposed to returning as soon as enter is pressed</a:t>
            </a:r>
            <a:endParaRPr sz="1800"/>
          </a:p>
          <a:p>
            <a:pPr indent="-342900" lvl="0" marL="457200" rtl="0" algn="l">
              <a:spcBef>
                <a:spcPts val="0"/>
              </a:spcBef>
              <a:spcAft>
                <a:spcPts val="0"/>
              </a:spcAft>
              <a:buSzPts val="1800"/>
              <a:buChar char="-"/>
            </a:pPr>
            <a:r>
              <a:rPr lang="en-GB" sz="1800"/>
              <a:t>We also register a hook on exit so that we can reset the terminal to the state just stored</a:t>
            </a: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6"/>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io_init_and_kb.py</a:t>
            </a:r>
            <a:endParaRPr b="1"/>
          </a:p>
        </p:txBody>
      </p:sp>
      <p:sp>
        <p:nvSpPr>
          <p:cNvPr id="133" name="Google Shape;133;p26"/>
          <p:cNvSpPr txBox="1"/>
          <p:nvPr>
            <p:ph idx="1" type="body"/>
          </p:nvPr>
        </p:nvSpPr>
        <p:spPr>
          <a:xfrm>
            <a:off x="311700" y="1152475"/>
            <a:ext cx="8520600" cy="3416400"/>
          </a:xfrm>
          <a:prstGeom prst="rect">
            <a:avLst/>
          </a:prstGeom>
          <a:solidFill>
            <a:srgbClr val="FFF2CC"/>
          </a:solidFill>
        </p:spPr>
        <p:txBody>
          <a:bodyPr anchorCtr="0" anchor="t" bIns="91425" lIns="91425" spcFirstLastPara="1" rIns="91425" wrap="square" tIns="91425">
            <a:normAutofit fontScale="92500" lnSpcReduction="20000"/>
          </a:bodyPr>
          <a:lstStyle/>
          <a:p>
            <a:pPr indent="-334328" lvl="0" marL="457200" rtl="0" algn="l">
              <a:spcBef>
                <a:spcPts val="0"/>
              </a:spcBef>
              <a:spcAft>
                <a:spcPts val="0"/>
              </a:spcAft>
              <a:buSzPct val="100000"/>
              <a:buChar char="●"/>
            </a:pPr>
            <a:r>
              <a:rPr lang="en-GB" sz="1800"/>
              <a:t>get_last_ch():</a:t>
            </a:r>
            <a:endParaRPr sz="1800"/>
          </a:p>
          <a:p>
            <a:pPr indent="-334328" lvl="0" marL="457200" rtl="0" algn="l">
              <a:spcBef>
                <a:spcPts val="0"/>
              </a:spcBef>
              <a:spcAft>
                <a:spcPts val="0"/>
              </a:spcAft>
              <a:buSzPct val="100000"/>
              <a:buChar char="-"/>
            </a:pPr>
            <a:r>
              <a:rPr lang="en-GB" sz="1800"/>
              <a:t>This function returns the last character from the relevant queues (which basically store key presses), this function clears the queues in the process, effectively this function returns the last character pressed since the last time this function was called (if any were pressed..)</a:t>
            </a:r>
            <a:endParaRPr sz="1800"/>
          </a:p>
          <a:p>
            <a:pPr indent="-334328" lvl="0" marL="457200" rtl="0" algn="l">
              <a:spcBef>
                <a:spcPts val="0"/>
              </a:spcBef>
              <a:spcAft>
                <a:spcPts val="0"/>
              </a:spcAft>
              <a:buSzPct val="100000"/>
              <a:buChar char="-"/>
            </a:pPr>
            <a:r>
              <a:rPr lang="en-GB" sz="1800"/>
              <a:t>If no ‘supported characters’ are pressed (or if none at all were pressed) the function will return an empty string</a:t>
            </a:r>
            <a:endParaRPr sz="1800"/>
          </a:p>
          <a:p>
            <a:pPr indent="0" lvl="0" marL="0" rtl="0" algn="l">
              <a:spcBef>
                <a:spcPts val="1200"/>
              </a:spcBef>
              <a:spcAft>
                <a:spcPts val="0"/>
              </a:spcAft>
              <a:buNone/>
            </a:pPr>
            <a:r>
              <a:t/>
            </a:r>
            <a:endParaRPr sz="1800"/>
          </a:p>
          <a:p>
            <a:pPr indent="-334328" lvl="0" marL="457200" rtl="0" algn="l">
              <a:spcBef>
                <a:spcPts val="1200"/>
              </a:spcBef>
              <a:spcAft>
                <a:spcPts val="0"/>
              </a:spcAft>
              <a:buSzPct val="100000"/>
              <a:buChar char="-"/>
            </a:pPr>
            <a:r>
              <a:rPr lang="en-GB" sz="1800"/>
              <a:t>If we are in *nix os-es we use read() and return the last character from the returned string</a:t>
            </a:r>
            <a:endParaRPr sz="1800"/>
          </a:p>
          <a:p>
            <a:pPr indent="-334328" lvl="0" marL="457200" rtl="0" algn="l">
              <a:spcBef>
                <a:spcPts val="0"/>
              </a:spcBef>
              <a:spcAft>
                <a:spcPts val="0"/>
              </a:spcAft>
              <a:buSzPct val="100000"/>
              <a:buChar char="-"/>
            </a:pPr>
            <a:r>
              <a:rPr lang="en-GB" sz="1800"/>
              <a:t>If we are on windows we run a loop that drains getwch’s queue (by running a while as long as kbhit returns True)</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7"/>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io_init_and_kb.py</a:t>
            </a:r>
            <a:endParaRPr b="1"/>
          </a:p>
        </p:txBody>
      </p:sp>
      <p:sp>
        <p:nvSpPr>
          <p:cNvPr id="139" name="Google Shape;139;p27"/>
          <p:cNvSpPr txBox="1"/>
          <p:nvPr>
            <p:ph idx="1" type="body"/>
          </p:nvPr>
        </p:nvSpPr>
        <p:spPr>
          <a:xfrm>
            <a:off x="311700" y="1152475"/>
            <a:ext cx="8520600" cy="3416400"/>
          </a:xfrm>
          <a:prstGeom prst="rect">
            <a:avLst/>
          </a:prstGeom>
          <a:solidFill>
            <a:srgbClr val="FFF2CC"/>
          </a:solidFill>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sz="1800"/>
              <a:t>process_ch(ch): Checks if the ch is mapped in the settings.key_actions dictionary, if so it calls the appropriate routine</a:t>
            </a:r>
            <a:endParaRPr sz="1800"/>
          </a:p>
          <a:p>
            <a:pPr indent="0" lvl="0" marL="0" rtl="0" algn="l">
              <a:spcBef>
                <a:spcPts val="1200"/>
              </a:spcBef>
              <a:spcAft>
                <a:spcPts val="0"/>
              </a:spcAft>
              <a:buNone/>
            </a:pPr>
            <a:r>
              <a:t/>
            </a:r>
            <a:endParaRPr sz="1800"/>
          </a:p>
          <a:p>
            <a:pPr indent="-342900" lvl="0" marL="457200" rtl="0" algn="l">
              <a:spcBef>
                <a:spcPts val="1200"/>
              </a:spcBef>
              <a:spcAft>
                <a:spcPts val="0"/>
              </a:spcAft>
              <a:buSzPts val="1800"/>
              <a:buChar char="●"/>
            </a:pPr>
            <a:r>
              <a:rPr lang="en-GB" sz="1800"/>
              <a:t>process_last_keypress(): Calls process_ch with the value of get_last_ch</a:t>
            </a:r>
            <a:endParaRPr sz="18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8"/>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draw.py</a:t>
            </a:r>
            <a:endParaRPr b="1"/>
          </a:p>
        </p:txBody>
      </p:sp>
      <p:sp>
        <p:nvSpPr>
          <p:cNvPr id="145" name="Google Shape;145;p28"/>
          <p:cNvSpPr txBox="1"/>
          <p:nvPr>
            <p:ph idx="1" type="body"/>
          </p:nvPr>
        </p:nvSpPr>
        <p:spPr>
          <a:xfrm>
            <a:off x="311700" y="1152475"/>
            <a:ext cx="8520600" cy="3416400"/>
          </a:xfrm>
          <a:prstGeom prst="rect">
            <a:avLst/>
          </a:prstGeom>
          <a:solidFill>
            <a:srgbClr val="FFF2CC"/>
          </a:solidFill>
        </p:spPr>
        <p:txBody>
          <a:bodyPr anchorCtr="0" anchor="t" bIns="91425" lIns="91425" spcFirstLastPara="1" rIns="91425" wrap="square" tIns="91425">
            <a:normAutofit fontScale="77500" lnSpcReduction="20000"/>
          </a:bodyPr>
          <a:lstStyle/>
          <a:p>
            <a:pPr indent="-317183" lvl="0" marL="457200" rtl="0" algn="l">
              <a:spcBef>
                <a:spcPts val="0"/>
              </a:spcBef>
              <a:spcAft>
                <a:spcPts val="0"/>
              </a:spcAft>
              <a:buSzPct val="100000"/>
              <a:buChar char="●"/>
            </a:pPr>
            <a:r>
              <a:rPr lang="en-GB" sz="1800"/>
              <a:t>c</a:t>
            </a:r>
            <a:r>
              <a:rPr lang="en-GB" sz="1800"/>
              <a:t>anvas_fill: the character used to fill the canvas initially</a:t>
            </a:r>
            <a:endParaRPr sz="1800"/>
          </a:p>
          <a:p>
            <a:pPr indent="-317183" lvl="0" marL="457200" rtl="0" algn="l">
              <a:spcBef>
                <a:spcPts val="0"/>
              </a:spcBef>
              <a:spcAft>
                <a:spcPts val="0"/>
              </a:spcAft>
              <a:buSzPct val="100000"/>
              <a:buChar char="●"/>
            </a:pPr>
            <a:r>
              <a:rPr lang="en-GB" sz="1800"/>
              <a:t>c</a:t>
            </a:r>
            <a:r>
              <a:rPr lang="en-GB" sz="1800"/>
              <a:t>anvas: the only instance of the canvas structure explained earlier (basically a list of elements where each element is a list of characters)</a:t>
            </a:r>
            <a:endParaRPr sz="1800"/>
          </a:p>
          <a:p>
            <a:pPr indent="0" lvl="0" marL="0" rtl="0" algn="l">
              <a:spcBef>
                <a:spcPts val="1200"/>
              </a:spcBef>
              <a:spcAft>
                <a:spcPts val="0"/>
              </a:spcAft>
              <a:buNone/>
            </a:pPr>
            <a:r>
              <a:t/>
            </a:r>
            <a:endParaRPr sz="1800"/>
          </a:p>
          <a:p>
            <a:pPr indent="-317183" lvl="0" marL="457200" rtl="0" algn="l">
              <a:spcBef>
                <a:spcPts val="1200"/>
              </a:spcBef>
              <a:spcAft>
                <a:spcPts val="0"/>
              </a:spcAft>
              <a:buSzPct val="100000"/>
              <a:buChar char="●"/>
            </a:pPr>
            <a:r>
              <a:rPr lang="en-GB" sz="1800"/>
              <a:t>clear_terminal(): it clears the terminal, which makes that the characters present before</a:t>
            </a:r>
            <a:endParaRPr sz="1800"/>
          </a:p>
          <a:p>
            <a:pPr indent="0" lvl="0" marL="0" rtl="0" algn="l">
              <a:spcBef>
                <a:spcPts val="1200"/>
              </a:spcBef>
              <a:spcAft>
                <a:spcPts val="0"/>
              </a:spcAft>
              <a:buNone/>
            </a:pPr>
            <a:r>
              <a:rPr lang="en-GB" sz="1800"/>
              <a:t>	running the game get wiped</a:t>
            </a:r>
            <a:endParaRPr sz="1800"/>
          </a:p>
          <a:p>
            <a:pPr indent="0" lvl="0" marL="0" rtl="0" algn="l">
              <a:spcBef>
                <a:spcPts val="1200"/>
              </a:spcBef>
              <a:spcAft>
                <a:spcPts val="0"/>
              </a:spcAft>
              <a:buNone/>
            </a:pPr>
            <a:r>
              <a:t/>
            </a:r>
            <a:endParaRPr sz="1800"/>
          </a:p>
          <a:p>
            <a:pPr indent="-317183" lvl="0" marL="457200" rtl="0" algn="l">
              <a:spcBef>
                <a:spcPts val="1200"/>
              </a:spcBef>
              <a:spcAft>
                <a:spcPts val="0"/>
              </a:spcAft>
              <a:buSzPct val="100000"/>
              <a:buChar char="●"/>
            </a:pPr>
            <a:r>
              <a:rPr lang="en-GB" sz="1800"/>
              <a:t>d</a:t>
            </a:r>
            <a:r>
              <a:rPr lang="en-GB" sz="1800"/>
              <a:t>raw_frame(): the highest-level draw_* function, it:</a:t>
            </a:r>
            <a:endParaRPr sz="1800"/>
          </a:p>
          <a:p>
            <a:pPr indent="-317183" lvl="0" marL="457200" rtl="0" algn="l">
              <a:spcBef>
                <a:spcPts val="0"/>
              </a:spcBef>
              <a:spcAft>
                <a:spcPts val="0"/>
              </a:spcAft>
              <a:buSzPct val="100000"/>
              <a:buChar char="-"/>
            </a:pPr>
            <a:r>
              <a:rPr lang="en-GB" sz="1800"/>
              <a:t>clears the canvas</a:t>
            </a:r>
            <a:endParaRPr sz="1800"/>
          </a:p>
          <a:p>
            <a:pPr indent="-317183" lvl="0" marL="457200" rtl="0" algn="l">
              <a:spcBef>
                <a:spcPts val="0"/>
              </a:spcBef>
              <a:spcAft>
                <a:spcPts val="0"/>
              </a:spcAft>
              <a:buSzPct val="100000"/>
              <a:buChar char="-"/>
            </a:pPr>
            <a:r>
              <a:rPr lang="en-GB" sz="1800"/>
              <a:t>draws the pipes (and runs the rasterization hooks)</a:t>
            </a:r>
            <a:endParaRPr sz="1800"/>
          </a:p>
          <a:p>
            <a:pPr indent="-317183" lvl="0" marL="457200" rtl="0" algn="l">
              <a:spcBef>
                <a:spcPts val="0"/>
              </a:spcBef>
              <a:spcAft>
                <a:spcPts val="0"/>
              </a:spcAft>
              <a:buSzPct val="100000"/>
              <a:buChar char="-"/>
            </a:pPr>
            <a:r>
              <a:rPr lang="en-GB" sz="1800"/>
              <a:t>draws the bird based on the bird_x setting and the bird_y global</a:t>
            </a:r>
            <a:endParaRPr sz="1800"/>
          </a:p>
          <a:p>
            <a:pPr indent="-317183" lvl="0" marL="457200" rtl="0" algn="l">
              <a:spcBef>
                <a:spcPts val="0"/>
              </a:spcBef>
              <a:spcAft>
                <a:spcPts val="0"/>
              </a:spcAft>
              <a:buSzPct val="100000"/>
              <a:buChar char="-"/>
            </a:pPr>
            <a:r>
              <a:rPr lang="en-GB" sz="1800"/>
              <a:t>prints the canvas</a:t>
            </a: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9"/>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draw.py</a:t>
            </a:r>
            <a:endParaRPr b="1"/>
          </a:p>
        </p:txBody>
      </p:sp>
      <p:sp>
        <p:nvSpPr>
          <p:cNvPr id="151" name="Google Shape;151;p29"/>
          <p:cNvSpPr txBox="1"/>
          <p:nvPr>
            <p:ph idx="1" type="body"/>
          </p:nvPr>
        </p:nvSpPr>
        <p:spPr>
          <a:xfrm>
            <a:off x="311700" y="1152475"/>
            <a:ext cx="8520600" cy="3416400"/>
          </a:xfrm>
          <a:prstGeom prst="rect">
            <a:avLst/>
          </a:prstGeom>
          <a:solidFill>
            <a:srgbClr val="FFF2CC"/>
          </a:solidFill>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sz="1800"/>
              <a:t>c</a:t>
            </a:r>
            <a:r>
              <a:rPr lang="en-GB" sz="1800"/>
              <a:t>lear_canvas(): it clears the canvas, without changing the canvas pointer</a:t>
            </a:r>
            <a:endParaRPr sz="1800"/>
          </a:p>
          <a:p>
            <a:pPr indent="0" lvl="0" marL="0" rtl="0" algn="l">
              <a:spcBef>
                <a:spcPts val="1200"/>
              </a:spcBef>
              <a:spcAft>
                <a:spcPts val="0"/>
              </a:spcAft>
              <a:buNone/>
            </a:pPr>
            <a:r>
              <a:t/>
            </a:r>
            <a:endParaRPr sz="1800"/>
          </a:p>
          <a:p>
            <a:pPr indent="-342900" lvl="0" marL="457200" rtl="0" algn="l">
              <a:spcBef>
                <a:spcPts val="1200"/>
              </a:spcBef>
              <a:spcAft>
                <a:spcPts val="0"/>
              </a:spcAft>
              <a:buSzPts val="1800"/>
              <a:buChar char="●"/>
            </a:pPr>
            <a:r>
              <a:rPr lang="en-GB" sz="1800"/>
              <a:t>draw_px(ch, x, y): the lowest level draw_* function, it:</a:t>
            </a:r>
            <a:endParaRPr sz="1800"/>
          </a:p>
          <a:p>
            <a:pPr indent="-342900" lvl="0" marL="457200" rtl="0" algn="l">
              <a:spcBef>
                <a:spcPts val="0"/>
              </a:spcBef>
              <a:spcAft>
                <a:spcPts val="0"/>
              </a:spcAft>
              <a:buSzPts val="1800"/>
              <a:buChar char="-"/>
            </a:pPr>
            <a:r>
              <a:rPr lang="en-GB" sz="1800"/>
              <a:t>only overwrites the character at position (x, y) with the character ch if the position is in the boundaries of canvas</a:t>
            </a:r>
            <a:endParaRPr sz="1800"/>
          </a:p>
          <a:p>
            <a:pPr indent="-342900" lvl="0" marL="457200" rtl="0" algn="l">
              <a:spcBef>
                <a:spcPts val="0"/>
              </a:spcBef>
              <a:spcAft>
                <a:spcPts val="0"/>
              </a:spcAft>
              <a:buSzPts val="1800"/>
              <a:buChar char="-"/>
            </a:pPr>
            <a:r>
              <a:rPr lang="en-GB" sz="1800"/>
              <a:t>returns whether the character was in the canvas’ bounds or not</a:t>
            </a:r>
            <a:endParaRPr sz="18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30"/>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draw.py</a:t>
            </a:r>
            <a:endParaRPr b="1"/>
          </a:p>
        </p:txBody>
      </p:sp>
      <p:sp>
        <p:nvSpPr>
          <p:cNvPr id="157" name="Google Shape;157;p30"/>
          <p:cNvSpPr txBox="1"/>
          <p:nvPr>
            <p:ph idx="1" type="body"/>
          </p:nvPr>
        </p:nvSpPr>
        <p:spPr>
          <a:xfrm>
            <a:off x="311700" y="1152475"/>
            <a:ext cx="8520600" cy="3416400"/>
          </a:xfrm>
          <a:prstGeom prst="rect">
            <a:avLst/>
          </a:prstGeom>
          <a:solidFill>
            <a:srgbClr val="FFF2CC"/>
          </a:solidFill>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sz="1800"/>
              <a:t>d</a:t>
            </a:r>
            <a:r>
              <a:rPr lang="en-GB" sz="1800"/>
              <a:t>raw_pipes():</a:t>
            </a:r>
            <a:endParaRPr sz="1800"/>
          </a:p>
          <a:p>
            <a:pPr indent="-342900" lvl="0" marL="457200" rtl="0" algn="l">
              <a:spcBef>
                <a:spcPts val="0"/>
              </a:spcBef>
              <a:spcAft>
                <a:spcPts val="0"/>
              </a:spcAft>
              <a:buSzPts val="1800"/>
              <a:buChar char="-"/>
            </a:pPr>
            <a:r>
              <a:rPr lang="en-GB" sz="1800"/>
              <a:t>It tries to draw the oldest pipe, if the pipe didn’t overwrite any pixel update.delete_first_pipe() will be called, deleting the pipe</a:t>
            </a:r>
            <a:endParaRPr sz="1800"/>
          </a:p>
          <a:p>
            <a:pPr indent="-342900" lvl="0" marL="457200" rtl="0" algn="l">
              <a:spcBef>
                <a:spcPts val="0"/>
              </a:spcBef>
              <a:spcAft>
                <a:spcPts val="0"/>
              </a:spcAft>
              <a:buSzPts val="1800"/>
              <a:buChar char="-"/>
            </a:pPr>
            <a:r>
              <a:rPr lang="en-GB" sz="1800"/>
              <a:t>It draws the rest of the pipes but the last</a:t>
            </a:r>
            <a:endParaRPr sz="1800"/>
          </a:p>
          <a:p>
            <a:pPr indent="-342900" lvl="0" marL="457200" rtl="0" algn="l">
              <a:spcBef>
                <a:spcPts val="0"/>
              </a:spcBef>
              <a:spcAft>
                <a:spcPts val="0"/>
              </a:spcAft>
              <a:buSzPts val="1800"/>
              <a:buChar char="-"/>
            </a:pPr>
            <a:r>
              <a:rPr lang="en-GB" sz="1800"/>
              <a:t>It tries to draw the newest pipe, if the pipe did overwrite all the pixels that could be overwritten, then the pipe is fully inside the canvas, and update.generate_pipe() would be called, making a newer pipe</a:t>
            </a:r>
            <a:endParaRPr sz="1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1"/>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draw.py</a:t>
            </a:r>
            <a:endParaRPr b="1"/>
          </a:p>
        </p:txBody>
      </p:sp>
      <p:sp>
        <p:nvSpPr>
          <p:cNvPr id="163" name="Google Shape;163;p31"/>
          <p:cNvSpPr txBox="1"/>
          <p:nvPr>
            <p:ph idx="1" type="body"/>
          </p:nvPr>
        </p:nvSpPr>
        <p:spPr>
          <a:xfrm>
            <a:off x="311700" y="1152475"/>
            <a:ext cx="8520600" cy="3416400"/>
          </a:xfrm>
          <a:prstGeom prst="rect">
            <a:avLst/>
          </a:prstGeom>
          <a:solidFill>
            <a:srgbClr val="FFF2CC"/>
          </a:solidFill>
        </p:spPr>
        <p:txBody>
          <a:bodyPr anchorCtr="0" anchor="t" bIns="91425" lIns="91425" spcFirstLastPara="1" rIns="91425" wrap="square" tIns="91425">
            <a:normAutofit fontScale="77500" lnSpcReduction="10000"/>
          </a:bodyPr>
          <a:lstStyle/>
          <a:p>
            <a:pPr indent="-317183" lvl="0" marL="457200" rtl="0" algn="l">
              <a:spcBef>
                <a:spcPts val="0"/>
              </a:spcBef>
              <a:spcAft>
                <a:spcPts val="0"/>
              </a:spcAft>
              <a:buSzPct val="100000"/>
              <a:buChar char="●"/>
            </a:pPr>
            <a:r>
              <a:rPr lang="en-GB" sz="1800"/>
              <a:t>d</a:t>
            </a:r>
            <a:r>
              <a:rPr lang="en-GB" sz="1800"/>
              <a:t>raw_pipe(canvas, pipe, canvas_width, canvas_height): </a:t>
            </a:r>
            <a:r>
              <a:rPr lang="en-GB" sz="1800"/>
              <a:t>It tries to draw a pipe pair based on the pipe struct passed</a:t>
            </a:r>
            <a:endParaRPr sz="1800"/>
          </a:p>
          <a:p>
            <a:pPr indent="-317183" lvl="0" marL="457200" rtl="0" algn="l">
              <a:spcBef>
                <a:spcPts val="0"/>
              </a:spcBef>
              <a:spcAft>
                <a:spcPts val="0"/>
              </a:spcAft>
              <a:buSzPct val="100000"/>
              <a:buAutoNum type="arabicPeriod"/>
            </a:pPr>
            <a:r>
              <a:t/>
            </a:r>
            <a:endParaRPr sz="1800"/>
          </a:p>
          <a:p>
            <a:pPr indent="-317183" lvl="0" marL="457200" rtl="0" algn="l">
              <a:spcBef>
                <a:spcPts val="0"/>
              </a:spcBef>
              <a:spcAft>
                <a:spcPts val="0"/>
              </a:spcAft>
              <a:buSzPct val="100000"/>
              <a:buChar char="-"/>
            </a:pPr>
            <a:r>
              <a:rPr lang="en-GB" sz="1800"/>
              <a:t>draws the top pipe’s vertical edges (ones made of the | character) row by row top to bottom</a:t>
            </a:r>
            <a:endParaRPr sz="1800"/>
          </a:p>
          <a:p>
            <a:pPr indent="-317183" lvl="0" marL="457200" rtl="0" algn="l">
              <a:spcBef>
                <a:spcPts val="0"/>
              </a:spcBef>
              <a:spcAft>
                <a:spcPts val="0"/>
              </a:spcAft>
              <a:buSzPct val="100000"/>
              <a:buChar char="-"/>
            </a:pPr>
            <a:r>
              <a:rPr lang="en-GB" sz="1800"/>
              <a:t>draws the top horizontal edge (made of the -  character), then the bottom one, both column by column, left to right</a:t>
            </a:r>
            <a:endParaRPr sz="1800"/>
          </a:p>
          <a:p>
            <a:pPr indent="-317183" lvl="0" marL="457200" rtl="0" algn="l">
              <a:spcBef>
                <a:spcPts val="0"/>
              </a:spcBef>
              <a:spcAft>
                <a:spcPts val="0"/>
              </a:spcAft>
              <a:buSzPct val="100000"/>
              <a:buChar char="-"/>
            </a:pPr>
            <a:r>
              <a:rPr baseline="30000" lang="en-GB" sz="1800"/>
              <a:t>mind that gap_height is inclusive of the horizontal edges</a:t>
            </a:r>
            <a:endParaRPr baseline="30000" sz="1800"/>
          </a:p>
          <a:p>
            <a:pPr indent="-317183" lvl="0" marL="457200" rtl="0" algn="l">
              <a:spcBef>
                <a:spcPts val="0"/>
              </a:spcBef>
              <a:spcAft>
                <a:spcPts val="0"/>
              </a:spcAft>
              <a:buSzPct val="100000"/>
              <a:buChar char="-"/>
            </a:pPr>
            <a:r>
              <a:rPr lang="en-GB" sz="1800"/>
              <a:t>It draws the bottom pipe’s vertical edges (ones made of the | character) row by row top to bottom</a:t>
            </a:r>
            <a:endParaRPr sz="1800"/>
          </a:p>
          <a:p>
            <a:pPr indent="0" lvl="0" marL="0" rtl="0" algn="l">
              <a:spcBef>
                <a:spcPts val="1200"/>
              </a:spcBef>
              <a:spcAft>
                <a:spcPts val="0"/>
              </a:spcAft>
              <a:buNone/>
            </a:pPr>
            <a:r>
              <a:t/>
            </a:r>
            <a:endParaRPr sz="1800"/>
          </a:p>
          <a:p>
            <a:pPr indent="-317183" lvl="0" marL="457200" rtl="0" algn="l">
              <a:spcBef>
                <a:spcPts val="1200"/>
              </a:spcBef>
              <a:spcAft>
                <a:spcPts val="0"/>
              </a:spcAft>
              <a:buSzPct val="100000"/>
              <a:buAutoNum type="arabicPeriod"/>
            </a:pPr>
            <a:r>
              <a:rPr lang="en-GB" sz="1800"/>
              <a:t>The function compares the number of iterations in loops described in 1. to the number of the pixels successfully overwritten, returns a tuple of whether the numbers matched (thus whether the pipe is fully inside the canvas), and whether there were no overwritten pixels (thus whether the pipe is fully outside the canvas)</a:t>
            </a:r>
            <a:endParaRPr sz="18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2"/>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draw.py</a:t>
            </a:r>
            <a:endParaRPr b="1"/>
          </a:p>
        </p:txBody>
      </p:sp>
      <p:sp>
        <p:nvSpPr>
          <p:cNvPr id="169" name="Google Shape;169;p32"/>
          <p:cNvSpPr txBox="1"/>
          <p:nvPr>
            <p:ph idx="1" type="body"/>
          </p:nvPr>
        </p:nvSpPr>
        <p:spPr>
          <a:xfrm>
            <a:off x="311700" y="1152475"/>
            <a:ext cx="8520600" cy="3416400"/>
          </a:xfrm>
          <a:prstGeom prst="rect">
            <a:avLst/>
          </a:prstGeom>
          <a:solidFill>
            <a:srgbClr val="FFF2CC"/>
          </a:solidFill>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sz="1800"/>
              <a:t>test_draw_pipe(x, y): Shows how would a pipe be rendered at (x, y), and returns the tuple returned by the appropriate draw_pipe call</a:t>
            </a:r>
            <a:endParaRPr sz="1800"/>
          </a:p>
          <a:p>
            <a:pPr indent="0" lvl="0" marL="0" rtl="0" algn="l">
              <a:spcBef>
                <a:spcPts val="1200"/>
              </a:spcBef>
              <a:spcAft>
                <a:spcPts val="0"/>
              </a:spcAft>
              <a:buNone/>
            </a:pPr>
            <a:r>
              <a:t/>
            </a:r>
            <a:endParaRPr sz="1800"/>
          </a:p>
          <a:p>
            <a:pPr indent="-342900" lvl="0" marL="457200" rtl="0" algn="l">
              <a:spcBef>
                <a:spcPts val="1200"/>
              </a:spcBef>
              <a:spcAft>
                <a:spcPts val="0"/>
              </a:spcAft>
              <a:buSzPts val="1800"/>
              <a:buChar char="●"/>
            </a:pPr>
            <a:r>
              <a:rPr lang="en-GB" sz="1800"/>
              <a:t>draw_bird(x, y): </a:t>
            </a:r>
            <a:r>
              <a:rPr lang="en-GB" sz="1800"/>
              <a:t>r</a:t>
            </a:r>
            <a:r>
              <a:rPr lang="en-GB" sz="1800"/>
              <a:t>ound()’s y to the nearest integer then calls draw_px for each column of each row of settings.bird_image with x and y set to the arguments + the offset within the image (effectively it copies settings.bird_image at the position (x, y))</a:t>
            </a:r>
            <a:endParaRPr sz="1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3"/>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draw.py</a:t>
            </a:r>
            <a:endParaRPr b="1"/>
          </a:p>
        </p:txBody>
      </p:sp>
      <p:sp>
        <p:nvSpPr>
          <p:cNvPr id="175" name="Google Shape;175;p33"/>
          <p:cNvSpPr txBox="1"/>
          <p:nvPr>
            <p:ph idx="1" type="body"/>
          </p:nvPr>
        </p:nvSpPr>
        <p:spPr>
          <a:xfrm>
            <a:off x="311700" y="1152475"/>
            <a:ext cx="8520600" cy="3416400"/>
          </a:xfrm>
          <a:prstGeom prst="rect">
            <a:avLst/>
          </a:prstGeom>
          <a:solidFill>
            <a:srgbClr val="FFF2CC"/>
          </a:solidFill>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sz="1800"/>
              <a:t>show(), it:</a:t>
            </a:r>
            <a:endParaRPr sz="1800"/>
          </a:p>
          <a:p>
            <a:pPr indent="-342900" lvl="0" marL="457200" rtl="0" algn="l">
              <a:spcBef>
                <a:spcPts val="0"/>
              </a:spcBef>
              <a:spcAft>
                <a:spcPts val="0"/>
              </a:spcAft>
              <a:buSzPts val="1800"/>
              <a:buChar char="-"/>
            </a:pPr>
            <a:r>
              <a:rPr lang="en-GB" sz="1800"/>
              <a:t>Sets the terminal cursor to 0, 0 (preventing scrolling, which looked glitchy in Windows™)</a:t>
            </a:r>
            <a:endParaRPr sz="1800"/>
          </a:p>
          <a:p>
            <a:pPr indent="-342900" lvl="0" marL="457200" rtl="0" algn="l">
              <a:spcBef>
                <a:spcPts val="0"/>
              </a:spcBef>
              <a:spcAft>
                <a:spcPts val="0"/>
              </a:spcAft>
              <a:buSzPts val="1800"/>
              <a:buChar char="-"/>
            </a:pPr>
            <a:r>
              <a:rPr lang="en-GB" sz="1800"/>
              <a:t>Prints the score and the high score</a:t>
            </a:r>
            <a:endParaRPr sz="1800"/>
          </a:p>
          <a:p>
            <a:pPr indent="-342900" lvl="0" marL="457200" rtl="0" algn="l">
              <a:spcBef>
                <a:spcPts val="0"/>
              </a:spcBef>
              <a:spcAft>
                <a:spcPts val="0"/>
              </a:spcAft>
              <a:buSzPts val="1800"/>
              <a:buChar char="-"/>
            </a:pPr>
            <a:r>
              <a:rPr lang="en-GB" sz="1800"/>
              <a:t>Joins the elements of the canvas making each element a string representing a line, and joins such strings with new lines</a:t>
            </a:r>
            <a:endParaRPr sz="1800"/>
          </a:p>
          <a:p>
            <a:pPr indent="-342900" lvl="0" marL="457200" rtl="0" algn="l">
              <a:spcBef>
                <a:spcPts val="0"/>
              </a:spcBef>
              <a:spcAft>
                <a:spcPts val="0"/>
              </a:spcAft>
              <a:buSzPts val="1800"/>
              <a:buChar char="-"/>
            </a:pPr>
            <a:r>
              <a:rPr lang="en-GB" sz="1800"/>
              <a:t>Sets a border variable to a string of settings.width many </a:t>
            </a:r>
            <a:r>
              <a:rPr lang="en-GB" sz="1800"/>
              <a:t>asterisks</a:t>
            </a:r>
            <a:r>
              <a:rPr lang="en-GB" sz="1800"/>
              <a:t> (*)</a:t>
            </a:r>
            <a:endParaRPr sz="1800"/>
          </a:p>
          <a:p>
            <a:pPr indent="-342900" lvl="0" marL="457200" rtl="0" algn="l">
              <a:spcBef>
                <a:spcPts val="0"/>
              </a:spcBef>
              <a:spcAft>
                <a:spcPts val="0"/>
              </a:spcAft>
              <a:buSzPts val="1800"/>
              <a:buChar char="-"/>
            </a:pPr>
            <a:r>
              <a:rPr lang="en-GB" sz="1800"/>
              <a:t>Joins the following elements in this order: cursor reset sequence + scores, border, canvas and border, with newlines</a:t>
            </a:r>
            <a:endParaRPr sz="1800"/>
          </a:p>
          <a:p>
            <a:pPr indent="-342900" lvl="0" marL="457200" rtl="0" algn="l">
              <a:spcBef>
                <a:spcPts val="0"/>
              </a:spcBef>
              <a:spcAft>
                <a:spcPts val="0"/>
              </a:spcAft>
              <a:buSzPts val="1800"/>
              <a:buChar char="-"/>
            </a:pPr>
            <a:r>
              <a:rPr lang="en-GB" sz="1800"/>
              <a:t>Flushes the standard output just in case</a:t>
            </a:r>
            <a:endParaRPr sz="18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4"/>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update.py</a:t>
            </a:r>
            <a:endParaRPr b="1"/>
          </a:p>
        </p:txBody>
      </p:sp>
      <p:sp>
        <p:nvSpPr>
          <p:cNvPr id="181" name="Google Shape;181;p34"/>
          <p:cNvSpPr txBox="1"/>
          <p:nvPr>
            <p:ph idx="1" type="body"/>
          </p:nvPr>
        </p:nvSpPr>
        <p:spPr>
          <a:xfrm>
            <a:off x="311700" y="1152475"/>
            <a:ext cx="8520600" cy="3416400"/>
          </a:xfrm>
          <a:prstGeom prst="rect">
            <a:avLst/>
          </a:prstGeom>
          <a:solidFill>
            <a:srgbClr val="FFF2CC"/>
          </a:solidFill>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GB" sz="1800"/>
              <a:t>update(): this function runs after every frame is drawn, It:</a:t>
            </a:r>
            <a:endParaRPr sz="1800"/>
          </a:p>
          <a:p>
            <a:pPr indent="-342900" lvl="0" marL="457200" rtl="0" algn="l">
              <a:spcBef>
                <a:spcPts val="0"/>
              </a:spcBef>
              <a:spcAft>
                <a:spcPts val="0"/>
              </a:spcAft>
              <a:buSzPts val="1800"/>
              <a:buAutoNum type="arabicPeriod"/>
            </a:pPr>
            <a:r>
              <a:rPr lang="en-GB" sz="1800"/>
              <a:t>It stores whether the bird had collided in a variable</a:t>
            </a:r>
            <a:endParaRPr sz="1800"/>
          </a:p>
          <a:p>
            <a:pPr indent="-342900" lvl="0" marL="457200" rtl="0" algn="l">
              <a:spcBef>
                <a:spcPts val="0"/>
              </a:spcBef>
              <a:spcAft>
                <a:spcPts val="0"/>
              </a:spcAft>
              <a:buSzPts val="1800"/>
              <a:buAutoNum type="arabicPeriod"/>
            </a:pPr>
            <a:r>
              <a:rPr lang="en-GB" sz="1800"/>
              <a:t>If the debug mode is off, it would</a:t>
            </a:r>
            <a:endParaRPr sz="1800"/>
          </a:p>
          <a:p>
            <a:pPr indent="-342900" lvl="0" marL="457200" rtl="0" algn="l">
              <a:spcBef>
                <a:spcPts val="0"/>
              </a:spcBef>
              <a:spcAft>
                <a:spcPts val="0"/>
              </a:spcAft>
              <a:buSzPts val="1800"/>
              <a:buChar char="-"/>
            </a:pPr>
            <a:r>
              <a:rPr lang="en-GB" sz="1800"/>
              <a:t>Move the pipes backwards (which gives the illusion that the bird had moved forward)</a:t>
            </a:r>
            <a:endParaRPr sz="1800"/>
          </a:p>
          <a:p>
            <a:pPr indent="-342900" lvl="0" marL="457200" rtl="0" algn="l">
              <a:spcBef>
                <a:spcPts val="0"/>
              </a:spcBef>
              <a:spcAft>
                <a:spcPts val="0"/>
              </a:spcAft>
              <a:buSzPts val="1800"/>
              <a:buChar char="-"/>
            </a:pPr>
            <a:r>
              <a:rPr lang="en-GB" sz="1800"/>
              <a:t>Update the bird’s y position based on velocity</a:t>
            </a:r>
            <a:endParaRPr sz="1800"/>
          </a:p>
          <a:p>
            <a:pPr indent="-342900" lvl="0" marL="457200" rtl="0" algn="l">
              <a:spcBef>
                <a:spcPts val="0"/>
              </a:spcBef>
              <a:spcAft>
                <a:spcPts val="0"/>
              </a:spcAft>
              <a:buSzPts val="1800"/>
              <a:buChar char="-"/>
            </a:pPr>
            <a:r>
              <a:rPr lang="en-GB" sz="1800"/>
              <a:t>Update the bird’s velocity based on its acceleration</a:t>
            </a:r>
            <a:endParaRPr sz="1800"/>
          </a:p>
          <a:p>
            <a:pPr indent="-342900" lvl="0" marL="457200" rtl="0" algn="l">
              <a:spcBef>
                <a:spcPts val="0"/>
              </a:spcBef>
              <a:spcAft>
                <a:spcPts val="0"/>
              </a:spcAft>
              <a:buSzPts val="1800"/>
              <a:buAutoNum type="arabicPeriod"/>
            </a:pPr>
            <a:r>
              <a:rPr lang="en-GB" sz="1800"/>
              <a:t>Checks if the score can be increased and would update it consequently</a:t>
            </a:r>
            <a:endParaRPr sz="1800"/>
          </a:p>
          <a:p>
            <a:pPr indent="-342900" lvl="0" marL="457200" rtl="0" algn="l">
              <a:spcBef>
                <a:spcPts val="0"/>
              </a:spcBef>
              <a:spcAft>
                <a:spcPts val="0"/>
              </a:spcAft>
              <a:buSzPts val="1800"/>
              <a:buAutoNum type="arabicPeriod"/>
            </a:pPr>
            <a:r>
              <a:rPr lang="en-GB" sz="1800"/>
              <a:t>Updates the high score (both the variable and the file) if the score was updated</a:t>
            </a:r>
            <a:endParaRPr sz="1800"/>
          </a:p>
          <a:p>
            <a:pPr indent="-342900" lvl="0" marL="457200" rtl="0" algn="l">
              <a:spcBef>
                <a:spcPts val="0"/>
              </a:spcBef>
              <a:spcAft>
                <a:spcPts val="0"/>
              </a:spcAft>
              <a:buSzPts val="1800"/>
              <a:buAutoNum type="arabicPeriod"/>
            </a:pPr>
            <a:r>
              <a:rPr lang="en-GB" sz="1800"/>
              <a:t>Returns whether the game could continue (inverts the variable of point 1 then returns it)</a:t>
            </a:r>
            <a:endParaRPr sz="1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5"/>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update.py</a:t>
            </a:r>
            <a:endParaRPr b="1"/>
          </a:p>
        </p:txBody>
      </p:sp>
      <p:sp>
        <p:nvSpPr>
          <p:cNvPr id="187" name="Google Shape;187;p35"/>
          <p:cNvSpPr txBox="1"/>
          <p:nvPr>
            <p:ph idx="1" type="body"/>
          </p:nvPr>
        </p:nvSpPr>
        <p:spPr>
          <a:xfrm>
            <a:off x="311700" y="1152475"/>
            <a:ext cx="8520600" cy="3416400"/>
          </a:xfrm>
          <a:prstGeom prst="rect">
            <a:avLst/>
          </a:prstGeom>
          <a:solidFill>
            <a:srgbClr val="FFF2CC"/>
          </a:solidFill>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sz="1800"/>
              <a:t>move_pipes(): it shifts every pipe’s x position in runtime_globals.pipes by -settings.scroll_speed</a:t>
            </a:r>
            <a:endParaRPr sz="1800"/>
          </a:p>
          <a:p>
            <a:pPr indent="0" lvl="0" marL="0" rtl="0" algn="l">
              <a:spcBef>
                <a:spcPts val="1200"/>
              </a:spcBef>
              <a:spcAft>
                <a:spcPts val="0"/>
              </a:spcAft>
              <a:buNone/>
            </a:pPr>
            <a:r>
              <a:t/>
            </a:r>
            <a:endParaRPr sz="1800"/>
          </a:p>
          <a:p>
            <a:pPr indent="-342900" lvl="0" marL="457200" rtl="0" algn="l">
              <a:spcBef>
                <a:spcPts val="1200"/>
              </a:spcBef>
              <a:spcAft>
                <a:spcPts val="0"/>
              </a:spcAft>
              <a:buSzPts val="1800"/>
              <a:buChar char="●"/>
            </a:pPr>
            <a:r>
              <a:rPr lang="en-GB" sz="1800"/>
              <a:t>increase_score(): checks every pipe, and if a pipe didn’t increase the score and was fully </a:t>
            </a:r>
            <a:r>
              <a:rPr lang="en-GB" sz="1800"/>
              <a:t>behind the bird, the pipe will be marked, and the score would be increased</a:t>
            </a:r>
            <a:endParaRPr sz="1800"/>
          </a:p>
          <a:p>
            <a:pPr indent="-342900" lvl="0" marL="457200" rtl="0" algn="l">
              <a:spcBef>
                <a:spcPts val="0"/>
              </a:spcBef>
              <a:spcAft>
                <a:spcPts val="0"/>
              </a:spcAft>
              <a:buSzPts val="1800"/>
              <a:buChar char="●"/>
            </a:pPr>
            <a:r>
              <a:rPr lang="en-GB" sz="1800"/>
              <a:t>update_high_score(current_score, current_high_score): if current score &gt; the current highscore, write the new highscore to highscore.txt, it effectively returns the new highscore</a:t>
            </a:r>
            <a:endParaRPr sz="1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6"/>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update.py</a:t>
            </a:r>
            <a:endParaRPr b="1"/>
          </a:p>
        </p:txBody>
      </p:sp>
      <p:sp>
        <p:nvSpPr>
          <p:cNvPr id="193" name="Google Shape;193;p36"/>
          <p:cNvSpPr txBox="1"/>
          <p:nvPr>
            <p:ph idx="1" type="body"/>
          </p:nvPr>
        </p:nvSpPr>
        <p:spPr>
          <a:xfrm>
            <a:off x="311700" y="1152475"/>
            <a:ext cx="8520600" cy="3416400"/>
          </a:xfrm>
          <a:prstGeom prst="rect">
            <a:avLst/>
          </a:prstGeom>
          <a:solidFill>
            <a:srgbClr val="FFF2CC"/>
          </a:solidFill>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sz="1800"/>
              <a:t>check_collision(bird): it returns True if:</a:t>
            </a:r>
            <a:endParaRPr sz="1800"/>
          </a:p>
          <a:p>
            <a:pPr indent="-342900" lvl="0" marL="457200" rtl="0" algn="l">
              <a:spcBef>
                <a:spcPts val="0"/>
              </a:spcBef>
              <a:spcAft>
                <a:spcPts val="0"/>
              </a:spcAft>
              <a:buSzPts val="1800"/>
              <a:buAutoNum type="arabicPeriod"/>
            </a:pPr>
            <a:r>
              <a:rPr lang="en-GB" sz="1800"/>
              <a:t>the bird is above y=0, at or below y=height</a:t>
            </a:r>
            <a:endParaRPr sz="1800"/>
          </a:p>
          <a:p>
            <a:pPr indent="-342900" lvl="0" marL="457200" rtl="0" algn="l">
              <a:spcBef>
                <a:spcPts val="0"/>
              </a:spcBef>
              <a:spcAft>
                <a:spcPts val="0"/>
              </a:spcAft>
              <a:buSzPts val="1800"/>
              <a:buAutoNum type="arabicPeriod"/>
            </a:pPr>
            <a:r>
              <a:rPr lang="en-GB" sz="1800"/>
              <a:t>If the bird is between the vertical lines of any pipe (inclusive), and if it’s y value is either:</a:t>
            </a:r>
            <a:endParaRPr sz="1800"/>
          </a:p>
          <a:p>
            <a:pPr indent="0" lvl="0" marL="0" rtl="0" algn="l">
              <a:spcBef>
                <a:spcPts val="1200"/>
              </a:spcBef>
              <a:spcAft>
                <a:spcPts val="0"/>
              </a:spcAft>
              <a:buNone/>
            </a:pPr>
            <a:r>
              <a:rPr lang="en-GB" sz="1800"/>
              <a:t>2.1  above or at the pipe’s top horizontal line</a:t>
            </a:r>
            <a:endParaRPr sz="1800"/>
          </a:p>
          <a:p>
            <a:pPr indent="0" lvl="0" marL="0" rtl="0" algn="l">
              <a:spcBef>
                <a:spcPts val="1200"/>
              </a:spcBef>
              <a:spcAft>
                <a:spcPts val="0"/>
              </a:spcAft>
              <a:buNone/>
            </a:pPr>
            <a:r>
              <a:rPr lang="en-GB" sz="1800"/>
              <a:t>2.2  or is below or at the pipe’s bottom horizontal line</a:t>
            </a:r>
            <a:endParaRPr sz="1800"/>
          </a:p>
          <a:p>
            <a:pPr indent="-342900" lvl="0" marL="457200" rtl="0" algn="l">
              <a:spcBef>
                <a:spcPts val="1200"/>
              </a:spcBef>
              <a:spcAft>
                <a:spcPts val="0"/>
              </a:spcAft>
              <a:buSzPts val="1800"/>
              <a:buChar char="-"/>
            </a:pPr>
            <a:r>
              <a:rPr lang="en-GB" sz="1800"/>
              <a:t>Otherwise it returns False</a:t>
            </a:r>
            <a:endParaRPr sz="18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7"/>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update.py/approx_min_pipe_x_off(delta_y)</a:t>
            </a:r>
            <a:endParaRPr b="1"/>
          </a:p>
        </p:txBody>
      </p:sp>
      <p:sp>
        <p:nvSpPr>
          <p:cNvPr id="199" name="Google Shape;199;p37"/>
          <p:cNvSpPr txBox="1"/>
          <p:nvPr>
            <p:ph idx="1" type="body"/>
          </p:nvPr>
        </p:nvSpPr>
        <p:spPr>
          <a:xfrm>
            <a:off x="311700" y="1152475"/>
            <a:ext cx="8520600" cy="3416400"/>
          </a:xfrm>
          <a:prstGeom prst="rect">
            <a:avLst/>
          </a:prstGeom>
          <a:solidFill>
            <a:srgbClr val="FFF2CC"/>
          </a:solidFill>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GB" sz="1800"/>
              <a:t>Notes:</a:t>
            </a:r>
            <a:endParaRPr sz="1800"/>
          </a:p>
          <a:p>
            <a:pPr indent="-342900" lvl="0" marL="457200" rtl="0" algn="l">
              <a:spcBef>
                <a:spcPts val="0"/>
              </a:spcBef>
              <a:spcAft>
                <a:spcPts val="0"/>
              </a:spcAft>
              <a:buSzPts val="1800"/>
              <a:buChar char="-"/>
            </a:pPr>
            <a:r>
              <a:rPr lang="en-GB" sz="1800"/>
              <a:t>idea and implementation we got without outside help</a:t>
            </a:r>
            <a:endParaRPr sz="1800"/>
          </a:p>
          <a:p>
            <a:pPr indent="-342900" lvl="0" marL="457200" rtl="0" algn="l">
              <a:spcBef>
                <a:spcPts val="0"/>
              </a:spcBef>
              <a:spcAft>
                <a:spcPts val="0"/>
              </a:spcAft>
              <a:buSzPts val="1800"/>
              <a:buChar char="-"/>
            </a:pPr>
            <a:r>
              <a:rPr lang="en-GB" sz="1800"/>
              <a:t>The function isn’t 100% accurate, for example: assumes the every relevant point is well a point, it doesn’t care that something is a bird/pipe, and it uses round()</a:t>
            </a:r>
            <a:endParaRPr sz="1800"/>
          </a:p>
          <a:p>
            <a:pPr indent="-342900" lvl="0" marL="457200" rtl="0" algn="l">
              <a:spcBef>
                <a:spcPts val="0"/>
              </a:spcBef>
              <a:spcAft>
                <a:spcPts val="0"/>
              </a:spcAft>
              <a:buSzPts val="1800"/>
              <a:buChar char="-"/>
            </a:pPr>
            <a:r>
              <a:rPr lang="en-GB" sz="1800"/>
              <a:t>The </a:t>
            </a:r>
            <a:r>
              <a:rPr lang="en-GB" sz="1800"/>
              <a:t>derivation/explanation</a:t>
            </a:r>
            <a:r>
              <a:rPr lang="en-GB" sz="1800"/>
              <a:t> has rough edges, mainly regarding signs, the </a:t>
            </a:r>
            <a:r>
              <a:rPr lang="en-GB" sz="1800"/>
              <a:t>explanation</a:t>
            </a:r>
            <a:r>
              <a:rPr lang="en-GB" sz="1800"/>
              <a:t> of the signs used in the code is </a:t>
            </a:r>
            <a:r>
              <a:rPr lang="en-GB" sz="1800"/>
              <a:t>omitted</a:t>
            </a:r>
            <a:endParaRPr sz="1800"/>
          </a:p>
          <a:p>
            <a:pPr indent="-342900" lvl="0" marL="457200" rtl="0" algn="l">
              <a:spcBef>
                <a:spcPts val="0"/>
              </a:spcBef>
              <a:spcAft>
                <a:spcPts val="0"/>
              </a:spcAft>
              <a:buSzPts val="1800"/>
              <a:buChar char="-"/>
            </a:pPr>
            <a:r>
              <a:rPr lang="en-GB" sz="1800"/>
              <a:t>We will refer to the function later as minimum estimated x</a:t>
            </a:r>
            <a:endParaRPr sz="1800"/>
          </a:p>
          <a:p>
            <a:pPr indent="0" lvl="0" marL="0" rtl="0" algn="l">
              <a:spcBef>
                <a:spcPts val="1200"/>
              </a:spcBef>
              <a:spcAft>
                <a:spcPts val="0"/>
              </a:spcAft>
              <a:buNone/>
            </a:pPr>
            <a:r>
              <a:t/>
            </a:r>
            <a:endParaRPr sz="1800"/>
          </a:p>
          <a:p>
            <a:pPr indent="-342900" lvl="0" marL="457200" rtl="0" algn="l">
              <a:spcBef>
                <a:spcPts val="1200"/>
              </a:spcBef>
              <a:spcAft>
                <a:spcPts val="0"/>
              </a:spcAft>
              <a:buSzPts val="1800"/>
              <a:buChar char="●"/>
            </a:pPr>
            <a:r>
              <a:rPr lang="en-GB" sz="1800"/>
              <a:t>You can say that the function:</a:t>
            </a:r>
            <a:endParaRPr sz="18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8"/>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update.py/approx_min_pipe_x_off(delta_y)</a:t>
            </a:r>
            <a:endParaRPr b="1"/>
          </a:p>
        </p:txBody>
      </p:sp>
      <p:sp>
        <p:nvSpPr>
          <p:cNvPr id="205" name="Google Shape;205;p38"/>
          <p:cNvSpPr txBox="1"/>
          <p:nvPr>
            <p:ph idx="1" type="body"/>
          </p:nvPr>
        </p:nvSpPr>
        <p:spPr>
          <a:xfrm>
            <a:off x="311700" y="1152475"/>
            <a:ext cx="8520600" cy="3990900"/>
          </a:xfrm>
          <a:prstGeom prst="rect">
            <a:avLst/>
          </a:prstGeom>
          <a:solidFill>
            <a:srgbClr val="FFF2CC"/>
          </a:solidFill>
        </p:spPr>
        <p:txBody>
          <a:bodyPr anchorCtr="0" anchor="t" bIns="91425" lIns="91425" spcFirstLastPara="1" rIns="91425" wrap="square" tIns="91425">
            <a:normAutofit/>
          </a:bodyPr>
          <a:lstStyle/>
          <a:p>
            <a:pPr indent="0" lvl="0" marL="0" rtl="0" algn="l">
              <a:spcBef>
                <a:spcPts val="0"/>
              </a:spcBef>
              <a:spcAft>
                <a:spcPts val="1200"/>
              </a:spcAft>
              <a:buNone/>
            </a:pPr>
            <a:r>
              <a:rPr lang="en-GB" sz="1800"/>
              <a:t> </a:t>
            </a:r>
            <a:endParaRPr sz="1800"/>
          </a:p>
        </p:txBody>
      </p:sp>
      <p:pic>
        <p:nvPicPr>
          <p:cNvPr descr="\text{ Takes } \triangle y \text{ and returns } x(y) \text{ which is defined as } x(t) \circ t(y)&#10;\\ \text{where } x(t) \text{ is derived like this:}&#10;\\ scroll_x = \frac{x}{t} =&gt; x = t \times scroll_x &#10;\\\text{ note: scroll_x is settings.scroll_speed}&#10;\\\text{and } t(y) = y^{-1}(t) \text { where } y(t) \text{ is either:}&#10;\\\text{1. } velocity_{jump} = \frac{y}{t} =&gt; y = velocity_{jump} \times t&#10;\\\text{which is used when } \triangle y \text{ is negative, and the bird must jump to reach}&#10;\\\text{2. } y(t) =\sum_{i=0}^{t}velocity(i) \text{ where } velocity(i) = acceleration \times i&#10;\\y=\sum_{i=0}^{t}acceleration \times i =&#10;acceleration \sum_{i=0}^{t}i\\\text{ using the triangle number formula: }&#10;\\y(t) = \frac{acceleration \times t \times (t+1)}{2}&#10;" id="206" name="Google Shape;206;p38" title="lagrida_latex_editor (2).png"/>
          <p:cNvPicPr preferRelativeResize="0"/>
          <p:nvPr/>
        </p:nvPicPr>
        <p:blipFill>
          <a:blip r:embed="rId3">
            <a:alphaModFix/>
          </a:blip>
          <a:stretch>
            <a:fillRect/>
          </a:stretch>
        </p:blipFill>
        <p:spPr>
          <a:xfrm>
            <a:off x="311700" y="1152475"/>
            <a:ext cx="5095968" cy="3990900"/>
          </a:xfrm>
          <a:prstGeom prst="rect">
            <a:avLst/>
          </a:prstGeom>
          <a:noFill/>
          <a:ln>
            <a:noFill/>
          </a:ln>
        </p:spPr>
      </p:pic>
      <p:cxnSp>
        <p:nvCxnSpPr>
          <p:cNvPr id="207" name="Google Shape;207;p38"/>
          <p:cNvCxnSpPr/>
          <p:nvPr/>
        </p:nvCxnSpPr>
        <p:spPr>
          <a:xfrm flipH="1">
            <a:off x="5413850" y="1155600"/>
            <a:ext cx="21000" cy="4013100"/>
          </a:xfrm>
          <a:prstGeom prst="straightConnector1">
            <a:avLst/>
          </a:prstGeom>
          <a:noFill/>
          <a:ln cap="flat" cmpd="sng" w="9525">
            <a:solidFill>
              <a:schemeClr val="dk2"/>
            </a:solidFill>
            <a:prstDash val="solid"/>
            <a:round/>
            <a:headEnd len="med" w="med" type="none"/>
            <a:tailEnd len="med" w="med" type="none"/>
          </a:ln>
        </p:spPr>
      </p:cxnSp>
      <p:pic>
        <p:nvPicPr>
          <p:cNvPr descr="\\\text{if we simplify and assume that } t=t+1 \text{ we get:} \\y(t) = \frac{acceleration \times t^{2}}{2}&#10;\\\text{an alternate deriviation of 2. :}&#10;\\y(t) = \int_{0}^{t}velocity(i)\times di&#10;\\y(t) = \int_{0}^{t}acceleration\times i \times di&#10;\\y(t) =\frac{acceleration\times t^{2}}{2} - \frac{acceleration\times 0}{2}&#10;\\y(t) = \frac{acceleration\times t^{2}}{2}" id="208" name="Google Shape;208;p38" title="lagrida_latex_editor (3).png"/>
          <p:cNvPicPr preferRelativeResize="0"/>
          <p:nvPr/>
        </p:nvPicPr>
        <p:blipFill>
          <a:blip r:embed="rId4">
            <a:alphaModFix/>
          </a:blip>
          <a:stretch>
            <a:fillRect/>
          </a:stretch>
        </p:blipFill>
        <p:spPr>
          <a:xfrm>
            <a:off x="5441025" y="1152475"/>
            <a:ext cx="3391275" cy="2995842"/>
          </a:xfrm>
          <a:prstGeom prst="rect">
            <a:avLst/>
          </a:prstGeom>
          <a:noFill/>
          <a:ln>
            <a:noFill/>
          </a:ln>
        </p:spPr>
      </p:pic>
      <p:sp>
        <p:nvSpPr>
          <p:cNvPr id="209" name="Google Shape;209;p38"/>
          <p:cNvSpPr txBox="1"/>
          <p:nvPr/>
        </p:nvSpPr>
        <p:spPr>
          <a:xfrm>
            <a:off x="560300" y="1155600"/>
            <a:ext cx="231000" cy="2730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chemeClr val="dk2"/>
                </a:solidFill>
              </a:rPr>
              <a:t>   </a:t>
            </a:r>
            <a:endParaRPr sz="1800">
              <a:solidFill>
                <a:schemeClr val="dk2"/>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9"/>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update.py/approx_min_pipe_x_off(delta_y)</a:t>
            </a:r>
            <a:endParaRPr b="1"/>
          </a:p>
        </p:txBody>
      </p:sp>
      <p:sp>
        <p:nvSpPr>
          <p:cNvPr id="215" name="Google Shape;215;p39"/>
          <p:cNvSpPr txBox="1"/>
          <p:nvPr>
            <p:ph idx="1" type="body"/>
          </p:nvPr>
        </p:nvSpPr>
        <p:spPr>
          <a:xfrm>
            <a:off x="311700" y="1152475"/>
            <a:ext cx="8520600" cy="3416400"/>
          </a:xfrm>
          <a:prstGeom prst="rect">
            <a:avLst/>
          </a:prstGeom>
          <a:solidFill>
            <a:srgbClr val="FFF2CC"/>
          </a:solidFill>
        </p:spPr>
        <p:txBody>
          <a:bodyPr anchorCtr="0" anchor="t" bIns="91425" lIns="91425" spcFirstLastPara="1" rIns="91425" wrap="square" tIns="91425">
            <a:normAutofit lnSpcReduction="10000"/>
          </a:bodyPr>
          <a:lstStyle/>
          <a:p>
            <a:pPr indent="0" lvl="0" marL="0" rtl="0" algn="l">
              <a:spcBef>
                <a:spcPts val="0"/>
              </a:spcBef>
              <a:spcAft>
                <a:spcPts val="0"/>
              </a:spcAft>
              <a:buNone/>
            </a:pPr>
            <a:r>
              <a:t/>
            </a:r>
            <a:endParaRPr sz="1800"/>
          </a:p>
          <a:p>
            <a:pPr indent="0" lvl="0" marL="0" rtl="0" algn="l">
              <a:spcBef>
                <a:spcPts val="1200"/>
              </a:spcBef>
              <a:spcAft>
                <a:spcPts val="0"/>
              </a:spcAft>
              <a:buNone/>
            </a:pPr>
            <a:r>
              <a:t/>
            </a:r>
            <a:endParaRPr sz="1800"/>
          </a:p>
          <a:p>
            <a:pPr indent="0" lvl="0" marL="0" rtl="0" algn="l">
              <a:spcBef>
                <a:spcPts val="1200"/>
              </a:spcBef>
              <a:spcAft>
                <a:spcPts val="0"/>
              </a:spcAft>
              <a:buNone/>
            </a:pPr>
            <a:r>
              <a:t/>
            </a:r>
            <a:endParaRPr sz="1800"/>
          </a:p>
          <a:p>
            <a:pPr indent="0" lvl="0" marL="0" rtl="0" algn="l">
              <a:spcBef>
                <a:spcPts val="1200"/>
              </a:spcBef>
              <a:spcAft>
                <a:spcPts val="0"/>
              </a:spcAft>
              <a:buNone/>
            </a:pPr>
            <a:r>
              <a:t/>
            </a:r>
            <a:endParaRPr sz="1800"/>
          </a:p>
          <a:p>
            <a:pPr indent="0" lvl="0" marL="0" rtl="0" algn="l">
              <a:spcBef>
                <a:spcPts val="1200"/>
              </a:spcBef>
              <a:spcAft>
                <a:spcPts val="0"/>
              </a:spcAft>
              <a:buNone/>
            </a:pPr>
            <a:r>
              <a:t/>
            </a:r>
            <a:endParaRPr sz="1800"/>
          </a:p>
          <a:p>
            <a:pPr indent="0" lvl="0" marL="0" rtl="0" algn="l">
              <a:spcBef>
                <a:spcPts val="1200"/>
              </a:spcBef>
              <a:spcAft>
                <a:spcPts val="1200"/>
              </a:spcAft>
              <a:buNone/>
            </a:pPr>
            <a:r>
              <a:rPr lang="en-GB" sz="1800"/>
              <a:t>Again, t is got based on either 1. Or 2. Based on whether arrival is jump bound or gravity bound(eq 1 is </a:t>
            </a:r>
            <a:r>
              <a:rPr lang="en-GB" sz="1800"/>
              <a:t>arguably</a:t>
            </a:r>
            <a:r>
              <a:rPr lang="en-GB" sz="1800"/>
              <a:t> simple because acceleration is reset if you keep pressing space), and then x is got based on t </a:t>
            </a:r>
            <a:endParaRPr sz="1800"/>
          </a:p>
        </p:txBody>
      </p:sp>
      <p:pic>
        <p:nvPicPr>
          <p:cNvPr descr="\text{ 2. is used when }\triangle y \text{ is positive, and the bird needs gravity to go down}\\ &#10;\\\text{now deriving inverses of the equations 1. and 2. :}&#10;\\\text{1. }y(t) = velocity_{jump} \times t =&gt; t = \frac{\triangle y}{velocity_{jump}}&#10;\\\text{2. } y(t) = \frac{acceleration\times t^{2}}{2} =&gt; \frac{2\times \triangle y}{acceleration}=t^{2}&#10;\\t=\sqrt{\frac{2\times \triangle y}{acceleration}}" id="216" name="Google Shape;216;p39" title="lagrida_latex_editor (4).png"/>
          <p:cNvPicPr preferRelativeResize="0"/>
          <p:nvPr/>
        </p:nvPicPr>
        <p:blipFill>
          <a:blip r:embed="rId3">
            <a:alphaModFix/>
          </a:blip>
          <a:stretch>
            <a:fillRect/>
          </a:stretch>
        </p:blipFill>
        <p:spPr>
          <a:xfrm>
            <a:off x="1899100" y="1152472"/>
            <a:ext cx="5345801" cy="2209300"/>
          </a:xfrm>
          <a:prstGeom prst="rect">
            <a:avLst/>
          </a:prstGeom>
          <a:noFill/>
          <a:ln>
            <a:noFill/>
          </a:ln>
        </p:spPr>
      </p:pic>
      <p:sp>
        <p:nvSpPr>
          <p:cNvPr id="217" name="Google Shape;217;p39"/>
          <p:cNvSpPr txBox="1"/>
          <p:nvPr/>
        </p:nvSpPr>
        <p:spPr>
          <a:xfrm>
            <a:off x="5570950" y="2232625"/>
            <a:ext cx="1177200" cy="168600"/>
          </a:xfrm>
          <a:prstGeom prst="rect">
            <a:avLst/>
          </a:prstGeom>
          <a:solidFill>
            <a:srgbClr val="FFF2CC"/>
          </a:solidFill>
          <a:ln>
            <a:noFill/>
          </a:ln>
        </p:spPr>
        <p:txBody>
          <a:bodyPr anchorCtr="0" anchor="t" bIns="91425" lIns="91425" spcFirstLastPara="1" rIns="91425" wrap="square" tIns="91425">
            <a:noAutofit/>
          </a:bodyPr>
          <a:lstStyle/>
          <a:p>
            <a:pPr indent="0" lvl="0" marL="0" rtl="0" algn="l">
              <a:lnSpc>
                <a:spcPct val="6000"/>
              </a:lnSpc>
              <a:spcBef>
                <a:spcPts val="0"/>
              </a:spcBef>
              <a:spcAft>
                <a:spcPts val="0"/>
              </a:spcAft>
              <a:buNone/>
            </a:pPr>
            <a:r>
              <a:rPr lang="en-GB" sz="1800">
                <a:solidFill>
                  <a:schemeClr val="dk2"/>
                </a:solidFill>
              </a:rPr>
              <a:t>velocity</a:t>
            </a:r>
            <a:endParaRPr sz="1800">
              <a:solidFill>
                <a:schemeClr val="dk2"/>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40"/>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update.py</a:t>
            </a:r>
            <a:endParaRPr b="1"/>
          </a:p>
        </p:txBody>
      </p:sp>
      <p:sp>
        <p:nvSpPr>
          <p:cNvPr id="223" name="Google Shape;223;p40"/>
          <p:cNvSpPr txBox="1"/>
          <p:nvPr>
            <p:ph idx="1" type="body"/>
          </p:nvPr>
        </p:nvSpPr>
        <p:spPr>
          <a:xfrm>
            <a:off x="311700" y="1152475"/>
            <a:ext cx="8520600" cy="3416400"/>
          </a:xfrm>
          <a:prstGeom prst="rect">
            <a:avLst/>
          </a:prstGeom>
          <a:solidFill>
            <a:srgbClr val="FFF2CC"/>
          </a:solidFill>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GB" sz="1800"/>
              <a:t>generate_pipe():</a:t>
            </a:r>
            <a:endParaRPr sz="1800"/>
          </a:p>
          <a:p>
            <a:pPr indent="-325755" lvl="0" marL="457200" rtl="0" algn="l">
              <a:spcBef>
                <a:spcPts val="0"/>
              </a:spcBef>
              <a:spcAft>
                <a:spcPts val="0"/>
              </a:spcAft>
              <a:buSzPct val="100000"/>
              <a:buAutoNum type="arabicPeriod"/>
            </a:pPr>
            <a:r>
              <a:rPr lang="en-GB" sz="1800"/>
              <a:t>Generates y randomly between [1, settings.height - settings.gap_height - 1)</a:t>
            </a:r>
            <a:endParaRPr sz="1800"/>
          </a:p>
          <a:p>
            <a:pPr indent="-325755" lvl="0" marL="457200" rtl="0" algn="l">
              <a:spcBef>
                <a:spcPts val="0"/>
              </a:spcBef>
              <a:spcAft>
                <a:spcPts val="0"/>
              </a:spcAft>
              <a:buSzPct val="100000"/>
              <a:buAutoNum type="arabicPeriod"/>
            </a:pPr>
            <a:r>
              <a:rPr lang="en-GB" sz="1800"/>
              <a:t>If there are no pipes, there is no delta_y to pass the the min x estimator, and we simply generate a pipe at the edge</a:t>
            </a:r>
            <a:endParaRPr sz="1800"/>
          </a:p>
          <a:p>
            <a:pPr indent="-325755" lvl="0" marL="457200" rtl="0" algn="l">
              <a:spcBef>
                <a:spcPts val="0"/>
              </a:spcBef>
              <a:spcAft>
                <a:spcPts val="0"/>
              </a:spcAft>
              <a:buSzPct val="100000"/>
              <a:buAutoNum type="arabicPeriod"/>
            </a:pPr>
            <a:r>
              <a:rPr lang="en-GB" sz="1800"/>
              <a:t>We store a minimum x offset defined as (minimum estimated x + 1) * slack factor</a:t>
            </a:r>
            <a:endParaRPr sz="1800"/>
          </a:p>
          <a:p>
            <a:pPr indent="0" lvl="0" marL="0" rtl="0" algn="l">
              <a:spcBef>
                <a:spcPts val="1200"/>
              </a:spcBef>
              <a:spcAft>
                <a:spcPts val="0"/>
              </a:spcAft>
              <a:buNone/>
            </a:pPr>
            <a:r>
              <a:rPr lang="en-GB" sz="1800"/>
              <a:t>3.1. We will refer to the stored value as #3</a:t>
            </a:r>
            <a:endParaRPr sz="1800"/>
          </a:p>
          <a:p>
            <a:pPr indent="-325755" lvl="0" marL="457200" rtl="0" algn="l">
              <a:spcBef>
                <a:spcPts val="1200"/>
              </a:spcBef>
              <a:spcAft>
                <a:spcPts val="0"/>
              </a:spcAft>
              <a:buSzPct val="100000"/>
              <a:buAutoNum type="arabicPeriod"/>
            </a:pPr>
            <a:r>
              <a:rPr lang="en-GB" sz="1800"/>
              <a:t>We set x to settings.width + a random number between [#3, #3 * settings.max_to_min_pipe_distance_factor clamped to settings.width - 1]</a:t>
            </a:r>
            <a:endParaRPr sz="1800"/>
          </a:p>
          <a:p>
            <a:pPr indent="0" lvl="0" marL="0" rtl="0" algn="l">
              <a:spcBef>
                <a:spcPts val="1200"/>
              </a:spcBef>
              <a:spcAft>
                <a:spcPts val="0"/>
              </a:spcAft>
              <a:buNone/>
            </a:pPr>
            <a:r>
              <a:rPr lang="en-GB" sz="1800"/>
              <a:t>4.1. We clamp because otherwise the game may crash as every pipe could be outside the canvas and get deleted</a:t>
            </a:r>
            <a:endParaRPr sz="1800"/>
          </a:p>
          <a:p>
            <a:pPr indent="-325755" lvl="0" marL="457200" rtl="0" algn="l">
              <a:spcBef>
                <a:spcPts val="1200"/>
              </a:spcBef>
              <a:spcAft>
                <a:spcPts val="0"/>
              </a:spcAft>
              <a:buSzPct val="100000"/>
              <a:buAutoNum type="arabicPeriod"/>
            </a:pPr>
            <a:r>
              <a:rPr lang="en-GB" sz="1800"/>
              <a:t>We set the passed flag to false, this is the flag used for score checking </a:t>
            </a:r>
            <a:endParaRPr sz="18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41"/>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update.py</a:t>
            </a:r>
            <a:endParaRPr b="1"/>
          </a:p>
        </p:txBody>
      </p:sp>
      <p:sp>
        <p:nvSpPr>
          <p:cNvPr id="229" name="Google Shape;229;p41"/>
          <p:cNvSpPr txBox="1"/>
          <p:nvPr>
            <p:ph idx="1" type="body"/>
          </p:nvPr>
        </p:nvSpPr>
        <p:spPr>
          <a:xfrm>
            <a:off x="311700" y="1152475"/>
            <a:ext cx="8520600" cy="3416400"/>
          </a:xfrm>
          <a:prstGeom prst="rect">
            <a:avLst/>
          </a:prstGeom>
          <a:solidFill>
            <a:srgbClr val="FFF2CC"/>
          </a:solidFill>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sz="1800"/>
              <a:t>delete_first_pipe(): removes the head pipe with O(n) time, we could have used a deque, but, the gains are minimal, and time is short, and we wanted to keep some stuff simple</a:t>
            </a:r>
            <a:endParaRPr sz="18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2"/>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Strengths</a:t>
            </a:r>
            <a:endParaRPr b="1"/>
          </a:p>
        </p:txBody>
      </p:sp>
      <p:sp>
        <p:nvSpPr>
          <p:cNvPr id="235" name="Google Shape;235;p42"/>
          <p:cNvSpPr txBox="1"/>
          <p:nvPr>
            <p:ph idx="1" type="body"/>
          </p:nvPr>
        </p:nvSpPr>
        <p:spPr>
          <a:xfrm>
            <a:off x="311700" y="1152475"/>
            <a:ext cx="8520600" cy="3416400"/>
          </a:xfrm>
          <a:prstGeom prst="rect">
            <a:avLst/>
          </a:prstGeom>
          <a:solidFill>
            <a:srgbClr val="FFF2CC"/>
          </a:solidFill>
        </p:spPr>
        <p:txBody>
          <a:bodyPr anchorCtr="0" anchor="t" bIns="91425" lIns="91425" spcFirstLastPara="1" rIns="91425" wrap="square" tIns="91425">
            <a:normAutofit fontScale="85000" lnSpcReduction="10000"/>
          </a:bodyPr>
          <a:lstStyle/>
          <a:p>
            <a:pPr indent="-325755" lvl="0" marL="457200" rtl="0" algn="l">
              <a:spcBef>
                <a:spcPts val="0"/>
              </a:spcBef>
              <a:spcAft>
                <a:spcPts val="0"/>
              </a:spcAft>
              <a:buSzPct val="100000"/>
              <a:buChar char="●"/>
            </a:pPr>
            <a:r>
              <a:rPr lang="en-GB" sz="1800"/>
              <a:t>The code:</a:t>
            </a:r>
            <a:endParaRPr sz="1800"/>
          </a:p>
          <a:p>
            <a:pPr indent="-325755" lvl="0" marL="457200" rtl="0" algn="l">
              <a:spcBef>
                <a:spcPts val="0"/>
              </a:spcBef>
              <a:spcAft>
                <a:spcPts val="0"/>
              </a:spcAft>
              <a:buSzPct val="100000"/>
              <a:buChar char="-"/>
            </a:pPr>
            <a:r>
              <a:rPr lang="en-GB" sz="1800"/>
              <a:t>Cross-platform</a:t>
            </a:r>
            <a:endParaRPr sz="1800"/>
          </a:p>
          <a:p>
            <a:pPr indent="-325755" lvl="0" marL="457200" rtl="0" algn="l">
              <a:spcBef>
                <a:spcPts val="0"/>
              </a:spcBef>
              <a:spcAft>
                <a:spcPts val="0"/>
              </a:spcAft>
              <a:buSzPct val="100000"/>
              <a:buChar char="-"/>
            </a:pPr>
            <a:r>
              <a:rPr lang="en-GB" sz="1800"/>
              <a:t>Somewhat modular and configurable</a:t>
            </a:r>
            <a:endParaRPr sz="1800"/>
          </a:p>
          <a:p>
            <a:pPr indent="-325755" lvl="0" marL="457200" rtl="0" algn="l">
              <a:spcBef>
                <a:spcPts val="0"/>
              </a:spcBef>
              <a:spcAft>
                <a:spcPts val="0"/>
              </a:spcAft>
              <a:buSzPct val="100000"/>
              <a:buChar char="-"/>
            </a:pPr>
            <a:r>
              <a:rPr lang="en-GB" sz="1800"/>
              <a:t>Didn’t use any module </a:t>
            </a:r>
            <a:r>
              <a:rPr lang="en-GB" sz="1800"/>
              <a:t>outside python’s standard library</a:t>
            </a:r>
            <a:endParaRPr sz="1800"/>
          </a:p>
          <a:p>
            <a:pPr indent="0" lvl="0" marL="0" rtl="0" algn="l">
              <a:spcBef>
                <a:spcPts val="1200"/>
              </a:spcBef>
              <a:spcAft>
                <a:spcPts val="0"/>
              </a:spcAft>
              <a:buNone/>
            </a:pPr>
            <a:r>
              <a:t/>
            </a:r>
            <a:endParaRPr sz="1800"/>
          </a:p>
          <a:p>
            <a:pPr indent="-325755" lvl="0" marL="457200" rtl="0" algn="l">
              <a:spcBef>
                <a:spcPts val="1200"/>
              </a:spcBef>
              <a:spcAft>
                <a:spcPts val="0"/>
              </a:spcAft>
              <a:buSzPct val="100000"/>
              <a:buChar char="●"/>
            </a:pPr>
            <a:r>
              <a:rPr lang="en-GB" sz="1800"/>
              <a:t>LLMs  and internet had lightly helped in logic (it had mostly helped in I/O, one had used it for draw_pipe(), idk of other uses), and we wrote this documentation manually</a:t>
            </a:r>
            <a:endParaRPr sz="1800"/>
          </a:p>
          <a:p>
            <a:pPr indent="0" lvl="0" marL="0" rtl="0" algn="l">
              <a:spcBef>
                <a:spcPts val="1200"/>
              </a:spcBef>
              <a:spcAft>
                <a:spcPts val="0"/>
              </a:spcAft>
              <a:buNone/>
            </a:pPr>
            <a:r>
              <a:t/>
            </a:r>
            <a:endParaRPr sz="1800"/>
          </a:p>
          <a:p>
            <a:pPr indent="-325755" lvl="0" marL="457200" rtl="0" algn="l">
              <a:spcBef>
                <a:spcPts val="1200"/>
              </a:spcBef>
              <a:spcAft>
                <a:spcPts val="0"/>
              </a:spcAft>
              <a:buSzPct val="100000"/>
              <a:buChar char="●"/>
            </a:pPr>
            <a:r>
              <a:rPr lang="en-GB" sz="1800"/>
              <a:t>We </a:t>
            </a:r>
            <a:r>
              <a:rPr lang="en-GB" sz="1800"/>
              <a:t>mathematically</a:t>
            </a:r>
            <a:r>
              <a:rPr lang="en-GB" sz="1800"/>
              <a:t> derived the minimum pipe distance that doesn’t make the game impossible (roughly speaking)</a:t>
            </a:r>
            <a:endParaRPr sz="18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3"/>
          <p:cNvSpPr txBox="1"/>
          <p:nvPr>
            <p:ph type="title"/>
          </p:nvPr>
        </p:nvSpPr>
        <p:spPr>
          <a:xfrm>
            <a:off x="311700" y="445025"/>
            <a:ext cx="8520600" cy="572700"/>
          </a:xfrm>
          <a:prstGeom prst="rect">
            <a:avLst/>
          </a:prstGeom>
          <a:solidFill>
            <a:srgbClr val="E6913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Limitations and Weaknesses</a:t>
            </a:r>
            <a:endParaRPr b="1"/>
          </a:p>
        </p:txBody>
      </p:sp>
      <p:sp>
        <p:nvSpPr>
          <p:cNvPr id="241" name="Google Shape;241;p43"/>
          <p:cNvSpPr txBox="1"/>
          <p:nvPr>
            <p:ph idx="1" type="body"/>
          </p:nvPr>
        </p:nvSpPr>
        <p:spPr>
          <a:xfrm>
            <a:off x="311700" y="1152475"/>
            <a:ext cx="8520600" cy="3416400"/>
          </a:xfrm>
          <a:prstGeom prst="rect">
            <a:avLst/>
          </a:prstGeom>
          <a:solidFill>
            <a:srgbClr val="FFF2CC"/>
          </a:solidFill>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GB" sz="1800"/>
              <a:t>Using rasterization hooks had limited pipe generation and made us unable to safely generate pipes outside the canvas, as they may get deleted</a:t>
            </a:r>
            <a:endParaRPr sz="1800"/>
          </a:p>
          <a:p>
            <a:pPr indent="0" lvl="0" marL="0" rtl="0" algn="l">
              <a:spcBef>
                <a:spcPts val="1200"/>
              </a:spcBef>
              <a:spcAft>
                <a:spcPts val="0"/>
              </a:spcAft>
              <a:buNone/>
            </a:pPr>
            <a:r>
              <a:t/>
            </a:r>
            <a:endParaRPr sz="1800"/>
          </a:p>
          <a:p>
            <a:pPr indent="-342900" lvl="0" marL="457200" rtl="0" algn="l">
              <a:spcBef>
                <a:spcPts val="1200"/>
              </a:spcBef>
              <a:spcAft>
                <a:spcPts val="0"/>
              </a:spcAft>
              <a:buSzPts val="1800"/>
              <a:buChar char="●"/>
            </a:pPr>
            <a:r>
              <a:rPr lang="en-GB" sz="1800"/>
              <a:t>Making stars outside the canvas had made the bird hitting them inconsistent with the bird hitting the pipes (visually), as the bird becomes invisible in the former case, but visible in the latter one</a:t>
            </a:r>
            <a:endParaRPr sz="1800"/>
          </a:p>
          <a:p>
            <a:pPr indent="0" lvl="0" marL="0" rtl="0" algn="l">
              <a:spcBef>
                <a:spcPts val="1200"/>
              </a:spcBef>
              <a:spcAft>
                <a:spcPts val="0"/>
              </a:spcAft>
              <a:buNone/>
            </a:pPr>
            <a:r>
              <a:t/>
            </a:r>
            <a:endParaRPr sz="1800"/>
          </a:p>
          <a:p>
            <a:pPr indent="-342900" lvl="0" marL="457200" rtl="0" algn="l">
              <a:spcBef>
                <a:spcPts val="1200"/>
              </a:spcBef>
              <a:spcAft>
                <a:spcPts val="0"/>
              </a:spcAft>
              <a:buSzPts val="1800"/>
              <a:buChar char="●"/>
            </a:pPr>
            <a:r>
              <a:rPr lang="en-GB" sz="1800"/>
              <a:t>We had used O(n) many times where we could have used O(1), eg: in score checking and collision checking, and when removing the head pipe</a:t>
            </a:r>
            <a:endParaRPr sz="18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